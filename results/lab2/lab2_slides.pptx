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74a62c33b47b0" /><Relationship Type="http://schemas.openxmlformats.org/officeDocument/2006/relationships/extended-properties" Target="/docProps/app.xml" Id="R68ec7d042aca4fd6" /><Relationship Type="http://schemas.openxmlformats.org/officeDocument/2006/relationships/officeDocument" Target="/ppt/presentation.xml" Id="Re0a1941f5a8c47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cce88243144ee"/>
  </p:sldMasterIdLst>
  <p:notesMasterIdLst>
    <p:notesMasterId xmlns:r="http://schemas.openxmlformats.org/officeDocument/2006/relationships" r:id="Rfa614fef554f4dc9"/>
  </p:notesMasterIdLst>
  <p:sldIdLst>
    <p:sldId xmlns:r="http://schemas.openxmlformats.org/officeDocument/2006/relationships" id="256" r:id="Rf859b8f453714204"/>
    <p:sldId xmlns:r="http://schemas.openxmlformats.org/officeDocument/2006/relationships" id="257" r:id="R6aa1d64986544e78"/>
    <p:sldId xmlns:r="http://schemas.openxmlformats.org/officeDocument/2006/relationships" id="258" r:id="Rd424535b55314d77"/>
    <p:sldId xmlns:r="http://schemas.openxmlformats.org/officeDocument/2006/relationships" id="259" r:id="R5bc20d1a739d43f9"/>
    <p:sldId xmlns:r="http://schemas.openxmlformats.org/officeDocument/2006/relationships" id="260" r:id="R966d14dddd5b493a"/>
    <p:sldId xmlns:r="http://schemas.openxmlformats.org/officeDocument/2006/relationships" id="261" r:id="R90abc5e4437245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2adc2720745de" /><Relationship Type="http://schemas.openxmlformats.org/officeDocument/2006/relationships/slideMaster" Target="/ppt/slideMasters/slideMaster1.xml" Id="Rbebcce88243144ee" /><Relationship Type="http://schemas.openxmlformats.org/officeDocument/2006/relationships/notesMaster" Target="/ppt/notesMasters/notesMaster1.xml" Id="Rfa614fef554f4dc9" /><Relationship Type="http://schemas.openxmlformats.org/officeDocument/2006/relationships/presProps" Target="/ppt/presProps.xml" Id="Re09e0bb5e4ac4b98" /><Relationship Type="http://schemas.openxmlformats.org/officeDocument/2006/relationships/tableStyles" Target="/ppt/tableStyles.xml" Id="R235a33afa91440a7" /><Relationship Type="http://schemas.openxmlformats.org/officeDocument/2006/relationships/slide" Target="/ppt/slides/slide1.xml" Id="Rf859b8f453714204" /><Relationship Type="http://schemas.openxmlformats.org/officeDocument/2006/relationships/slide" Target="/ppt/slides/slide2.xml" Id="R6aa1d64986544e78" /><Relationship Type="http://schemas.openxmlformats.org/officeDocument/2006/relationships/slide" Target="/ppt/slides/slide3.xml" Id="Rd424535b55314d77" /><Relationship Type="http://schemas.openxmlformats.org/officeDocument/2006/relationships/slide" Target="/ppt/slides/slide4.xml" Id="R5bc20d1a739d43f9" /><Relationship Type="http://schemas.openxmlformats.org/officeDocument/2006/relationships/slide" Target="/ppt/slides/slide5.xml" Id="R966d14dddd5b493a" /><Relationship Type="http://schemas.openxmlformats.org/officeDocument/2006/relationships/slide" Target="/ppt/slides/slide6.xml" Id="R90abc5e4437245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9f331c707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f757e1e33143ad" /><Relationship Type="http://schemas.openxmlformats.org/officeDocument/2006/relationships/notesMaster" Target="/ppt/notesMasters/notesMaster1.xml" Id="R0aa1abfce2b847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cbe6158594df9" /><Relationship Type="http://schemas.openxmlformats.org/officeDocument/2006/relationships/notesMaster" Target="/ppt/notesMasters/notesMaster1.xml" Id="R3fb4518cf51448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5d1aeb3da4627" /><Relationship Type="http://schemas.openxmlformats.org/officeDocument/2006/relationships/notesMaster" Target="/ppt/notesMasters/notesMaster1.xml" Id="Rb64dc59143d142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0ec68d5987434c" /><Relationship Type="http://schemas.openxmlformats.org/officeDocument/2006/relationships/notesMaster" Target="/ppt/notesMasters/notesMaster1.xml" Id="Rf463e7367f1c49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0917e8541d4773" /><Relationship Type="http://schemas.openxmlformats.org/officeDocument/2006/relationships/notesMaster" Target="/ppt/notesMasters/notesMaster1.xml" Id="Rbab566ab1fd84b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dca5cab8c4b5c" /><Relationship Type="http://schemas.openxmlformats.org/officeDocument/2006/relationships/notesMaster" Target="/ppt/notesMasters/notesMaster1.xml" Id="Rc08a2f39003f42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взял модель Ивана из первой лабораторной. Вторая работа посвящена выбору элементов графа: можно ли убрать давление, если остальные коэффициенты подобрать заново? Мой вариант 2–1–2: оценка ковариаций параметров и риманова геометрия, зануление наблюдаемой переменной, KL-дивергенция.</a:t>
            </a:r>
          </a:p>
          <a:p xmlns:a="http://schemas.openxmlformats.org/drawingml/2006/main">
            <a:r>
              <a:t>Источник модели: https://github.com/papayiv/NavieStocks_project/tree/66eb7bc73cd802a3249c058ad69fc59a95fbd807</a:t>
            </a:r>
          </a:p>
          <a:p xmlns:a="http://schemas.openxmlformats.org/drawingml/2006/main">
            <a:r>
              <a:t>Задание: Лабораторная работа №2, вариант Дмитрия от 20.10.2026.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Рассматривается несжимаемая жидкость с плотностью один, без внешней силы. В исходном графе коэффициент конвекции равен единице. Я сделал его оцениваемым параметром β вместе с вязкостью ν. Это позволяет заметить компенсацию одного члена другим. Исходный граф Ивана сохранён без изменений. Давление — узел 2, его рёбра к производным имеют номера 2→16 и 2→31. В интервенции давление и его градиенты равны нулю, скорости и наблюдаемые ускорения сохраняются. Это анализ вычислительного графа на фиксированных данных, а не физический опыт с пересчётом всего течения.</a:t>
            </a:r>
          </a:p>
          <a:p xmlns:a="http://schemas.openxmlformats.org/drawingml/2006/main">
            <a:r>
              <a:t>Источники: navier_stokes_tree.py в репозитории Ивана. Параметризация: https://maziarraissi.github.io/PINNs/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цилиндра я сначала исключил исходный кадр t=0. При его включении в разностный шаблон оценка на t=0,2 сильно отличается от соседних, и одно окно определяет почти весь разброс параметров. После исключения кадра первые производные получаются при t=0,3. Первые 120 доступных кадров разбиты на 12 непересекающихся временных окон. На каждом окне решаю МНК по двум уравнениям сразу, через SVD. Из 12 векторов считаю среднее и полную ковариацию, затем использую гауссову аппроксимацию. Для цилиндра обучение идёт от t=0,3 до 12,2, проверка от 12,7 до 19,7. Между ними пропущены четыре кадра, чтобы временные шаблоны не пересекались. Это разброс оценок по окнам; сами окна могут быть зависимы. Метрика параметров равна обратной ковариации. Геометрию самих ковариаций отдельно рассматриваю на SPD.</a:t>
            </a:r>
          </a:p>
          <a:p xmlns:a="http://schemas.openxmlformats.org/drawingml/2006/main">
            <a:r>
              <a:t>Источники: https://doi.org/10.1007/s11263-005-3222-z ; https://arxiv.org/abs/2102.05485 ; результаты results/lab2/metrics.json.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Синтетический пример — вихрь Тейлора — Грина. В ускорения добавлена погрешность один процент RMS, скорости и давление точные. Здесь конвекция уравновешена градиентом давления. Поэтому при уменьшении давления β уменьшается почти как один минус α, а вязкость остаётся около 0,01. После подбора ошибка всё время около 1,14 процента. На этой траектории одной ошибки недостаточно, чтобы выбрать между полной моделью и моделью без давления с β=0. По нашему правилу давление сохраняем: распределение β сильно сдвинулось, поэтому KL велика.</a:t>
            </a:r>
          </a:p>
          <a:p xmlns:a="http://schemas.openxmlformats.org/drawingml/2006/main">
            <a:r>
              <a:t>Числа: results/lab2/metrics.json, раздел Тейлор — Грин. Формулы решения приведены в notebooks/lab2.ipynb.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внешней проверки взял данные течения за цилиндром при Re=100 из материалов Raissi и соавторов. Это численный расчёт Nektar++, а не измерения. Здесь есть давление, которого нет в загруженном Иваном файле PDEBench. На исходных данных после обработки начального участка получил β=0,999966 и ν=0,010005. После зануления давления β=0,798099, ν=0,005616. Ошибка ускорения на отложенных кадрах выросла с 0,261 до 45,273 процента. KL примерно 253 нат.</a:t>
            </a:r>
          </a:p>
          <a:p xmlns:a="http://schemas.openxmlformats.org/drawingml/2006/main">
            <a:r>
              <a:t>Я отдельно сравнил расчёт с исходным первым кадром и без него. Число обусловленности исходной ковариации уменьшилось с 9,36·10⁶ до 89,6. При этом KL изменилась примерно с 250 до 253, а ошибка после зануления осталась около 45 процентов. Поэтому решение сохранить давление не зависит от этого начального кадра. Здесь проверяются ускорения по локальному уравнению, а не новая траектория течения.</a:t>
            </a:r>
          </a:p>
          <a:p xmlns:a="http://schemas.openxmlformats.org/drawingml/2006/main">
            <a:r>
              <a:t>Источники: https://maziarraissi.github.io/PINNs/ ; https://doi.org/10.1016/j.jcp.2018.10.045 ; results/lab2/metrics.json.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обоих опытах я сохраняю давление и обе его связи с производными. Правило для кандидата на удаление: исходная ошибка не выше пяти процентов, KL не больше 0,1, рост относительной ошибки не больше одного процентного пункта и положительные общие оценки коэффициентов. Это учебное рабочее правило, не статистический тест. В синтетике отказ вызван сдвигом параметров, во внешней выборке ещё и ростом ошибки. Отрицательный контроль p+3 сохраняет градиенты и параметры. Для обсуждения остаются три вопроса: считаются ли внешние численные данные реальными, достаточно ли геометрии ковариаций для второго варианта, подходит ли абляция входа p на фиксированных наблюдениях как интервенция в этой работе.</a:t>
            </a:r>
          </a:p>
          <a:p xmlns:a="http://schemas.openxmlformats.org/drawingml/2006/main">
            <a:r>
              <a:t>Требования: Лабораторная работа №2.pdf. Расчёты: results/lab2/metrics.json.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51f71b98e42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f89f7e21a4d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49514ac124d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83d69af8d4d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83c2afe2141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2689e70b646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C45CD7-3698-4881-9013-EA8D9BE63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D4E209-F48F-47D0-BB81-516A462D21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E1AB83-1F54-41E6-82AC-A747E4CF1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86BBB-8898-4BC1-971B-2730BF858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9BE794-AC54-4609-A069-1F712BD60C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21CB18-71FC-4671-B72F-58ECF62F3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150BE9-1729-4C73-9A10-B5982A947D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94DD32-896C-482C-B8F0-EBE1FF29BE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B75C47-65C4-476E-AEF7-94632897D5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163BC-6D5D-4749-8E02-145D57602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7e82f16fa74c7f" /><Relationship Type="http://schemas.openxmlformats.org/officeDocument/2006/relationships/slideLayout" Target="/ppt/slideLayouts/slideLayout1.xml" Id="Rc3fcda7ffb16404d" /><Relationship Type="http://schemas.openxmlformats.org/officeDocument/2006/relationships/slideLayout" Target="/ppt/slideLayouts/slideLayout2.xml" Id="Re4be696bb6294de9" /><Relationship Type="http://schemas.openxmlformats.org/officeDocument/2006/relationships/slideLayout" Target="/ppt/slideLayouts/slideLayout3.xml" Id="R053434cbf5874ad9" /><Relationship Type="http://schemas.openxmlformats.org/officeDocument/2006/relationships/slideLayout" Target="/ppt/slideLayouts/slideLayout4.xml" Id="Re6815b4f44f74481" /><Relationship Type="http://schemas.openxmlformats.org/officeDocument/2006/relationships/slideLayout" Target="/ppt/slideLayouts/slideLayout5.xml" Id="R304535dc8aa8492c" /><Relationship Type="http://schemas.openxmlformats.org/officeDocument/2006/relationships/slideLayout" Target="/ppt/slideLayouts/slideLayout6.xml" Id="R7788d2eefe85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cda7ffb16404d"/>
    <p:sldLayoutId xmlns:r="http://schemas.openxmlformats.org/officeDocument/2006/relationships" id="2147483650" r:id="Re4be696bb6294de9"/>
    <p:sldLayoutId xmlns:r="http://schemas.openxmlformats.org/officeDocument/2006/relationships" id="2147483651" r:id="R053434cbf5874ad9"/>
    <p:sldLayoutId xmlns:r="http://schemas.openxmlformats.org/officeDocument/2006/relationships" id="2147483652" r:id="Re6815b4f44f74481"/>
    <p:sldLayoutId xmlns:r="http://schemas.openxmlformats.org/officeDocument/2006/relationships" id="2147483653" r:id="R304535dc8aa8492c"/>
    <p:sldLayoutId xmlns:r="http://schemas.openxmlformats.org/officeDocument/2006/relationships" id="2147483654" r:id="R7788d2eefe85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054b5994149a6" /><Relationship Type="http://schemas.openxmlformats.org/officeDocument/2006/relationships/notesSlide" Target="/ppt/notesSlides/notesSlide1.xml" Id="Rf9bce519922c40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5b25cc4c14abb" /><Relationship Type="http://schemas.openxmlformats.org/officeDocument/2006/relationships/notesSlide" Target="/ppt/notesSlides/notesSlide2.xml" Id="Rf41d32e1b4e54e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7b711d9014be9" /><Relationship Type="http://schemas.openxmlformats.org/officeDocument/2006/relationships/notesSlide" Target="/ppt/notesSlides/notesSlide3.xml" Id="R85f679a886834c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7f8febd824d7a" /><Relationship Type="http://schemas.openxmlformats.org/officeDocument/2006/relationships/chart" Target="/ppt/slides/charts/chart1.xml" Id="R80fadc9c4d2b4e62" /><Relationship Type="http://schemas.openxmlformats.org/officeDocument/2006/relationships/notesSlide" Target="/ppt/notesSlides/notesSlide4.xml" Id="Rcddec894b1804e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4d35429514b31" /><Relationship Type="http://schemas.openxmlformats.org/officeDocument/2006/relationships/chart" Target="/ppt/slides/charts/chart2.xml" Id="R32226ee3938f4a83" /><Relationship Type="http://schemas.openxmlformats.org/officeDocument/2006/relationships/notesSlide" Target="/ppt/notesSlides/notesSlide5.xml" Id="R1fbb9720862a49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ee385c8354131" /><Relationship Type="http://schemas.openxmlformats.org/officeDocument/2006/relationships/notesSlide" Target="/ppt/notesSlides/notesSlide6.xml" Id="R65b4fba30b7948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Коэффициент β</c:v>
          </c:tx>
          <c:spPr>
            <a:ln xmlns:a="http://schemas.openxmlformats.org/drawingml/2006/main" w="28575">
              <a:solidFill>
                <a:srgbClr val="2962A3"/>
              </a:solidFill>
              <a:prstDash val="solid"/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1.00000062017</c:v>
                </c:pt>
                <c:pt idx="1">
                  <c:v>0.750000620175</c:v>
                </c:pt>
                <c:pt idx="2">
                  <c:v>0.500000620175</c:v>
                </c:pt>
                <c:pt idx="3">
                  <c:v>0.250000620175</c:v>
                </c:pt>
                <c:pt idx="4">
                  <c:v>6.20174520091E-07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α: доля убранного давления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Коэффициент 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ускорения</c:v>
          </c:tx>
          <c:spPr>
            <a:ln xmlns:a="http://schemas.openxmlformats.org/drawingml/2006/main" w="28575">
              <a:solidFill>
                <a:srgbClr val="2962A3"/>
              </a:solidFill>
              <a:prstDash val="solid"/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0.00260706928894</c:v>
                </c:pt>
                <c:pt idx="1">
                  <c:v>0.113211301931</c:v>
                </c:pt>
                <c:pt idx="2">
                  <c:v>0.226377251597</c:v>
                </c:pt>
                <c:pt idx="3">
                  <c:v>0.339553206844</c:v>
                </c:pt>
                <c:pt idx="4">
                  <c:v>0.452731664009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α: доля убранного давления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Ошибка ускорения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84355-3929-4CB6-8AFB-DC828006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/>
            </a:defPPr>
            <a:lvl1pPr>
              <a:buNone/>
              <a:defRPr sz="3300"/>
            </a:lvl1pPr>
            <a:lvl2pPr>
              <a:buNone/>
              <a:defRPr sz="3300"/>
            </a:lvl2pPr>
            <a:lvl3pPr>
              <a:buNone/>
              <a:defRPr sz="3300"/>
            </a:lvl3pPr>
            <a:lvl4pPr>
              <a:buNone/>
              <a:defRPr sz="3300"/>
            </a:lvl4pPr>
            <a:lvl5pPr>
              <a:buNone/>
              <a:defRPr sz="3300"/>
            </a:lvl5pPr>
            <a:lvl6pPr>
              <a:buNone/>
              <a:defRPr sz="3300"/>
            </a:lvl6pPr>
            <a:lvl7pPr>
              <a:buNone/>
              <a:defRPr sz="3300"/>
            </a:lvl7pPr>
            <a:lvl8pPr>
              <a:buNone/>
              <a:defRPr sz="3300"/>
            </a:lvl8pPr>
            <a:lvl9pPr>
              <a:buNone/>
              <a:defRPr sz="3300"/>
            </a:lvl9pPr>
          </a:lstStyle>
          <a:p xmlns:a="http://schemas.openxmlformats.org/drawingml/2006/main">
            <a:pPr>
              <a:buNone/>
              <a:defRPr sz="3300"/>
            </a:pPr>
            <a: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Давление в графе</a:t>
            </a:r>
            <a:b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Навье — Стокса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389FA-5F49-4FB9-B327-0BE968E9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/>
            </a:defPPr>
            <a:lvl1pPr>
              <a:buNone/>
              <a:defRPr sz="24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2400"/>
            </a:lvl6pPr>
            <a:lvl7pPr>
              <a:buNone/>
              <a:defRPr sz="2400"/>
            </a:lvl7pPr>
            <a:lvl8pPr>
              <a:buNone/>
              <a:defRPr sz="2400"/>
            </a:lvl8pPr>
            <a:lvl9pPr>
              <a:buNone/>
              <a:defRPr sz="2400"/>
            </a:lvl9pPr>
          </a:lstStyle>
          <a:p xmlns:a="http://schemas.openxmlformats.org/drawingml/2006/main">
            <a:pPr>
              <a:buNone/>
              <a:defRPr sz="2400"/>
            </a:pPr>
            <a:r>
              <a:rPr sz="2400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Лабораторная работа №2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23A0E-DA12-4B43-B7F8-C1EC159D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/>
            </a:defPPr>
            <a:lvl1pPr>
              <a:buNone/>
              <a:defRPr sz="2850"/>
            </a:lvl1pPr>
            <a:lvl2pPr>
              <a:buNone/>
              <a:defRPr sz="2850"/>
            </a:lvl2pPr>
            <a:lvl3pPr>
              <a:buNone/>
              <a:defRPr sz="2850"/>
            </a:lvl3pPr>
            <a:lvl4pPr>
              <a:buNone/>
              <a:defRPr sz="2850"/>
            </a:lvl4pPr>
            <a:lvl5pPr>
              <a:buNone/>
              <a:defRPr sz="2850"/>
            </a:lvl5pPr>
            <a:lvl6pPr>
              <a:buNone/>
              <a:defRPr sz="2850"/>
            </a:lvl6pPr>
            <a:lvl7pPr>
              <a:buNone/>
              <a:defRPr sz="2850"/>
            </a:lvl7pPr>
            <a:lvl8pPr>
              <a:buNone/>
              <a:defRPr sz="2850"/>
            </a:lvl8pPr>
            <a:lvl9pPr>
              <a:buNone/>
              <a:defRPr sz="2850"/>
            </a:lvl9pPr>
          </a:lstStyle>
          <a:p xmlns:a="http://schemas.openxmlformats.org/drawingml/2006/main">
            <a:pPr>
              <a:buNone/>
              <a:defRPr sz="2850"/>
            </a:pPr>
            <a:r>
              <a:rPr sz="2850" b="1">
                <a:solidFill>
                  <a:srgbClr val="2962A3"/>
                </a:solidFill>
                <a:latin typeface="Helvetica Neue"/>
                <a:ea typeface="Helvetica Neue"/>
                <a:cs typeface="Helvetica Neue"/>
              </a:rPr>
              <a:t>Вариант 2–1–2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3B742-C119-4615-A827-373120B4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/>
            </a:defPPr>
            <a:lvl1pPr>
              <a:buNone/>
              <a:defRPr sz="2175"/>
            </a:lvl1pPr>
            <a:lvl2pPr>
              <a:buNone/>
              <a:defRPr sz="2175"/>
            </a:lvl2pPr>
            <a:lvl3pPr>
              <a:buNone/>
              <a:defRPr sz="2175"/>
            </a:lvl3pPr>
            <a:lvl4pPr>
              <a:buNone/>
              <a:defRPr sz="2175"/>
            </a:lvl4pPr>
            <a:lvl5pPr>
              <a:buNone/>
              <a:defRPr sz="2175"/>
            </a:lvl5pPr>
            <a:lvl6pPr>
              <a:buNone/>
              <a:defRPr sz="2175"/>
            </a:lvl6pPr>
            <a:lvl7pPr>
              <a:buNone/>
              <a:defRPr sz="2175"/>
            </a:lvl7pPr>
            <a:lvl8pPr>
              <a:buNone/>
              <a:defRPr sz="2175"/>
            </a:lvl8pPr>
            <a:lvl9pPr>
              <a:buNone/>
              <a:defRPr sz="2175"/>
            </a:lvl9pPr>
          </a:lstStyle>
          <a:p xmlns:a="http://schemas.openxmlformats.org/drawingml/2006/main">
            <a:pPr>
              <a:buNone/>
              <a:defRPr sz="2175"/>
            </a:pPr>
            <a: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Ковариации параметров и риманова геометрия</a:t>
            </a:r>
            <a:b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Зануление давления</a:t>
            </a:r>
            <a:b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KL-дивергенция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1A766-2B94-4A08-8375-F94E167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/>
            </a:defPPr>
            <a:lvl1pPr>
              <a:buNone/>
              <a:defRPr sz="1650"/>
            </a:lvl1pPr>
            <a:lvl2pPr>
              <a:buNone/>
              <a:defRPr sz="1650"/>
            </a:lvl2pPr>
            <a:lvl3pPr>
              <a:buNone/>
              <a:defRPr sz="1650"/>
            </a:lvl3pPr>
            <a:lvl4pPr>
              <a:buNone/>
              <a:defRPr sz="1650"/>
            </a:lvl4pPr>
            <a:lvl5pPr>
              <a:buNone/>
              <a:defRPr sz="1650"/>
            </a:lvl5pPr>
            <a:lvl6pPr>
              <a:buNone/>
              <a:defRPr sz="1650"/>
            </a:lvl6pPr>
            <a:lvl7pPr>
              <a:buNone/>
              <a:defRPr sz="1650"/>
            </a:lvl7pPr>
            <a:lvl8pPr>
              <a:buNone/>
              <a:defRPr sz="1650"/>
            </a:lvl8pPr>
            <a:lvl9pPr>
              <a:buNone/>
              <a:defRPr sz="1650"/>
            </a:lvl9pPr>
          </a:lstStyle>
          <a:p xmlns:a="http://schemas.openxmlformats.org/drawingml/2006/main">
            <a:pPr>
              <a:buNone/>
              <a:defRPr sz="1650"/>
            </a:pPr>
            <a:r>
              <a:rPr sz="16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Модель Ивана. Черновик к обсуждению 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597102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899D4-3214-496D-975A-A80F562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/>
            </a:defPPr>
            <a:lvl1pPr>
              <a:buNone/>
              <a:defRPr sz="3300"/>
            </a:lvl1pPr>
            <a:lvl2pPr>
              <a:buNone/>
              <a:defRPr sz="3300"/>
            </a:lvl2pPr>
            <a:lvl3pPr>
              <a:buNone/>
              <a:defRPr sz="3300"/>
            </a:lvl3pPr>
            <a:lvl4pPr>
              <a:buNone/>
              <a:defRPr sz="3300"/>
            </a:lvl4pPr>
            <a:lvl5pPr>
              <a:buNone/>
              <a:defRPr sz="3300"/>
            </a:lvl5pPr>
            <a:lvl6pPr>
              <a:buNone/>
              <a:defRPr sz="3300"/>
            </a:lvl6pPr>
            <a:lvl7pPr>
              <a:buNone/>
              <a:defRPr sz="3300"/>
            </a:lvl7pPr>
            <a:lvl8pPr>
              <a:buNone/>
              <a:defRPr sz="3300"/>
            </a:lvl8pPr>
            <a:lvl9pPr>
              <a:buNone/>
              <a:defRPr sz="3300"/>
            </a:lvl9pPr>
          </a:lstStyle>
          <a:p xmlns:a="http://schemas.openxmlformats.org/drawingml/2006/main">
            <a:pPr>
              <a:buNone/>
              <a:defRPr sz="3300"/>
            </a:pPr>
            <a: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Уравнение и интервенция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907F4-C351-4430-AF8E-4C333C63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/>
            </a:defPPr>
            <a:lvl1pPr>
              <a:buNone/>
              <a:defRPr sz="2550"/>
            </a:lvl1pPr>
            <a:lvl2pPr>
              <a:buNone/>
              <a:defRPr sz="2550"/>
            </a:lvl2pPr>
            <a:lvl3pPr>
              <a:buNone/>
              <a:defRPr sz="2550"/>
            </a:lvl3pPr>
            <a:lvl4pPr>
              <a:buNone/>
              <a:defRPr sz="2550"/>
            </a:lvl4pPr>
            <a:lvl5pPr>
              <a:buNone/>
              <a:defRPr sz="2550"/>
            </a:lvl5pPr>
            <a:lvl6pPr>
              <a:buNone/>
              <a:defRPr sz="2550"/>
            </a:lvl6pPr>
            <a:lvl7pPr>
              <a:buNone/>
              <a:defRPr sz="2550"/>
            </a:lvl7pPr>
            <a:lvl8pPr>
              <a:buNone/>
              <a:defRPr sz="2550"/>
            </a:lvl8pPr>
            <a:lvl9pPr>
              <a:buNone/>
              <a:defRPr sz="2550"/>
            </a:lvl9pPr>
          </a:lstStyle>
          <a:p xmlns:a="http://schemas.openxmlformats.org/drawingml/2006/main">
            <a:pPr>
              <a:buNone/>
              <a:defRPr sz="2550"/>
            </a:pPr>
            <a:r>
              <a:rPr sz="255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uₜ + β(uuₓ + vuᵧ) = −pₓ + ν(uₓₓ + uᵧᵧ)</a:t>
            </a:r>
            <a:br>
              <a:rPr sz="255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55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vₜ + β(uvₓ + vvᵧ) = −pᵧ + ν(vₓₓ + vᵧᵧ)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45ADD-AA29-488A-8D10-D9B25858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/>
            </a:defPPr>
            <a:lvl1pPr>
              <a:buNone/>
              <a:defRPr sz="2175"/>
            </a:lvl1pPr>
            <a:lvl2pPr>
              <a:buNone/>
              <a:defRPr sz="2175"/>
            </a:lvl2pPr>
            <a:lvl3pPr>
              <a:buNone/>
              <a:defRPr sz="2175"/>
            </a:lvl3pPr>
            <a:lvl4pPr>
              <a:buNone/>
              <a:defRPr sz="2175"/>
            </a:lvl4pPr>
            <a:lvl5pPr>
              <a:buNone/>
              <a:defRPr sz="2175"/>
            </a:lvl5pPr>
            <a:lvl6pPr>
              <a:buNone/>
              <a:defRPr sz="2175"/>
            </a:lvl6pPr>
            <a:lvl7pPr>
              <a:buNone/>
              <a:defRPr sz="2175"/>
            </a:lvl7pPr>
            <a:lvl8pPr>
              <a:buNone/>
              <a:defRPr sz="2175"/>
            </a:lvl8pPr>
            <a:lvl9pPr>
              <a:buNone/>
              <a:defRPr sz="2175"/>
            </a:lvl9pPr>
          </a:lstStyle>
          <a:p xmlns:a="http://schemas.openxmlformats.org/drawingml/2006/main">
            <a:pPr>
              <a:buNone/>
              <a:defRPr sz="2175"/>
            </a:pPr>
            <a: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θ = (β, ν)     Ожидаем β = 1, ν = 0,01</a:t>
            </a:r>
            <a:b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Несжимаемость: uₓ + vᵧ =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2555C-3F13-4249-8750-6316E512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/>
            </a:defPPr>
            <a:lvl1pPr>
              <a:buNone/>
              <a:defRPr sz="2250"/>
            </a:lvl1pPr>
            <a:lvl2pPr>
              <a:buNone/>
              <a:defRPr sz="2250"/>
            </a:lvl2pPr>
            <a:lvl3pPr>
              <a:buNone/>
              <a:defRPr sz="2250"/>
            </a:lvl3pPr>
            <a:lvl4pPr>
              <a:buNone/>
              <a:defRPr sz="2250"/>
            </a:lvl4pPr>
            <a:lvl5pPr>
              <a:buNone/>
              <a:defRPr sz="2250"/>
            </a:lvl5pPr>
            <a:lvl6pPr>
              <a:buNone/>
              <a:defRPr sz="2250"/>
            </a:lvl6pPr>
            <a:lvl7pPr>
              <a:buNone/>
              <a:defRPr sz="2250"/>
            </a:lvl7pPr>
            <a:lvl8pPr>
              <a:buNone/>
              <a:defRPr sz="2250"/>
            </a:lvl8pPr>
            <a:lvl9pPr>
              <a:buNone/>
              <a:defRPr sz="2250"/>
            </a:lvl9pPr>
          </a:lstStyle>
          <a:p xmlns:a="http://schemas.openxmlformats.org/drawingml/2006/main">
            <a:pPr>
              <a:buNone/>
              <a:defRPr sz="2250"/>
            </a:pPr>
            <a:r>
              <a:rPr sz="2250" b="0">
                <a:solidFill>
                  <a:srgbClr val="A94330"/>
                </a:solidFill>
                <a:latin typeface="Helvetica Neue"/>
                <a:ea typeface="Helvetica Neue"/>
                <a:cs typeface="Helvetica Neue"/>
              </a:rPr>
              <a:t>pα = (1 − α)p,  α от 0 до 1</a:t>
            </a:r>
            <a:br>
              <a:rPr sz="2250" b="0">
                <a:solidFill>
                  <a:srgbClr val="A94330"/>
                </a:solidFill>
                <a:latin typeface="Helvetica Neue"/>
                <a:ea typeface="Helvetica Neue"/>
                <a:cs typeface="Helvetica Neue"/>
              </a:rPr>
            </a:br>
            <a:r>
              <a:rPr sz="2250" b="0">
                <a:solidFill>
                  <a:srgbClr val="A94330"/>
                </a:solidFill>
                <a:latin typeface="Helvetica Neue"/>
                <a:ea typeface="Helvetica Neue"/>
                <a:cs typeface="Helvetica Neue"/>
              </a:rPr>
              <a:t>При α = 1 обе ветви градиента давления выключены</a:t>
            </a:r>
          </a:p>
        </p:txBody>
      </p:sp>
    </p:spTree>
    <p:extLst>
      <p:ext uri="{BB962C8B-B14F-4D97-AF65-F5344CB8AC3E}">
        <p14:creationId xmlns:p14="http://schemas.microsoft.com/office/powerpoint/2010/main" val="1414323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13605-A506-44CE-B054-10E42E3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/>
            </a:defPPr>
            <a:lvl1pPr>
              <a:buNone/>
              <a:defRPr sz="3300"/>
            </a:lvl1pPr>
            <a:lvl2pPr>
              <a:buNone/>
              <a:defRPr sz="3300"/>
            </a:lvl2pPr>
            <a:lvl3pPr>
              <a:buNone/>
              <a:defRPr sz="3300"/>
            </a:lvl3pPr>
            <a:lvl4pPr>
              <a:buNone/>
              <a:defRPr sz="3300"/>
            </a:lvl4pPr>
            <a:lvl5pPr>
              <a:buNone/>
              <a:defRPr sz="3300"/>
            </a:lvl5pPr>
            <a:lvl6pPr>
              <a:buNone/>
              <a:defRPr sz="3300"/>
            </a:lvl6pPr>
            <a:lvl7pPr>
              <a:buNone/>
              <a:defRPr sz="3300"/>
            </a:lvl7pPr>
            <a:lvl8pPr>
              <a:buNone/>
              <a:defRPr sz="3300"/>
            </a:lvl8pPr>
            <a:lvl9pPr>
              <a:buNone/>
              <a:defRPr sz="3300"/>
            </a:lvl9pPr>
          </a:lstStyle>
          <a:p xmlns:a="http://schemas.openxmlformats.org/drawingml/2006/main">
            <a:pPr>
              <a:buNone/>
              <a:defRPr sz="3300"/>
            </a:pPr>
            <a: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Распределения оценок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05249-A8B8-4F5D-B40A-CE63C9F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/>
            </a:defPPr>
            <a:lvl1pPr>
              <a:buNone/>
              <a:defRPr sz="2325"/>
            </a:lvl1pPr>
            <a:lvl2pPr>
              <a:buNone/>
              <a:defRPr sz="2325"/>
            </a:lvl2pPr>
            <a:lvl3pPr>
              <a:buNone/>
              <a:defRPr sz="2325"/>
            </a:lvl3pPr>
            <a:lvl4pPr>
              <a:buNone/>
              <a:defRPr sz="2325"/>
            </a:lvl4pPr>
            <a:lvl5pPr>
              <a:buNone/>
              <a:defRPr sz="2325"/>
            </a:lvl5pPr>
            <a:lvl6pPr>
              <a:buNone/>
              <a:defRPr sz="2325"/>
            </a:lvl6pPr>
            <a:lvl7pPr>
              <a:buNone/>
              <a:defRPr sz="2325"/>
            </a:lvl7pPr>
            <a:lvl8pPr>
              <a:buNone/>
              <a:defRPr sz="2325"/>
            </a:lvl8pPr>
            <a:lvl9pPr>
              <a:buNone/>
              <a:defRPr sz="2325"/>
            </a:lvl9pPr>
          </a:lstStyle>
          <a:p xmlns:a="http://schemas.openxmlformats.org/drawingml/2006/main">
            <a:pPr>
              <a:buNone/>
              <a:defRPr sz="2325"/>
            </a:pPr>
            <a:r>
              <a:rPr sz="23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МНК по 12 временным окнам</a:t>
            </a:r>
            <a:br>
              <a:rPr sz="23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3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Среднее μ и полная ковариация 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AA1AE-1280-4D40-B944-AA57612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/>
            </a:defPPr>
            <a:lvl1pPr>
              <a:buNone/>
              <a:defRPr sz="2475"/>
            </a:lvl1pPr>
            <a:lvl2pPr>
              <a:buNone/>
              <a:defRPr sz="2475"/>
            </a:lvl2pPr>
            <a:lvl3pPr>
              <a:buNone/>
              <a:defRPr sz="2475"/>
            </a:lvl3pPr>
            <a:lvl4pPr>
              <a:buNone/>
              <a:defRPr sz="2475"/>
            </a:lvl4pPr>
            <a:lvl5pPr>
              <a:buNone/>
              <a:defRPr sz="2475"/>
            </a:lvl5pPr>
            <a:lvl6pPr>
              <a:buNone/>
              <a:defRPr sz="2475"/>
            </a:lvl6pPr>
            <a:lvl7pPr>
              <a:buNone/>
              <a:defRPr sz="2475"/>
            </a:lvl7pPr>
            <a:lvl8pPr>
              <a:buNone/>
              <a:defRPr sz="2475"/>
            </a:lvl8pPr>
            <a:lvl9pPr>
              <a:buNone/>
              <a:defRPr sz="2475"/>
            </a:lvl9pPr>
          </a:lstStyle>
          <a:p xmlns:a="http://schemas.openxmlformats.org/drawingml/2006/main">
            <a:pPr>
              <a:buNone/>
              <a:defRPr sz="2475"/>
            </a:pPr>
            <a:r>
              <a:rPr sz="2475" b="1">
                <a:solidFill>
                  <a:srgbClr val="2962A3"/>
                </a:solidFill>
                <a:latin typeface="Helvetica Neue"/>
                <a:ea typeface="Helvetica Neue"/>
                <a:cs typeface="Helvetica Neue"/>
              </a:rPr>
              <a:t>P₀ = N(μ₀, Σ₀)       Pα = N(μα, Σα)</a:t>
            </a:r>
            <a:br>
              <a:rPr sz="2475" b="1">
                <a:solidFill>
                  <a:srgbClr val="2962A3"/>
                </a:solidFill>
                <a:latin typeface="Helvetica Neue"/>
                <a:ea typeface="Helvetica Neue"/>
                <a:cs typeface="Helvetica Neue"/>
              </a:rPr>
            </a:br>
            <a:r>
              <a:rPr sz="2475" b="1">
                <a:solidFill>
                  <a:srgbClr val="2962A3"/>
                </a:solidFill>
                <a:latin typeface="Helvetica Neue"/>
                <a:ea typeface="Helvetica Neue"/>
                <a:cs typeface="Helvetica Neue"/>
              </a:rPr>
              <a:t>Основная мера: KL(P₀ ∥ Pα)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C7DCD-B37F-476C-9F3B-323629B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/>
            </a:defPPr>
            <a:lvl1pPr>
              <a:buNone/>
              <a:defRPr sz="2175"/>
            </a:lvl1pPr>
            <a:lvl2pPr>
              <a:buNone/>
              <a:defRPr sz="2175"/>
            </a:lvl2pPr>
            <a:lvl3pPr>
              <a:buNone/>
              <a:defRPr sz="2175"/>
            </a:lvl3pPr>
            <a:lvl4pPr>
              <a:buNone/>
              <a:defRPr sz="2175"/>
            </a:lvl4pPr>
            <a:lvl5pPr>
              <a:buNone/>
              <a:defRPr sz="2175"/>
            </a:lvl5pPr>
            <a:lvl6pPr>
              <a:buNone/>
              <a:defRPr sz="2175"/>
            </a:lvl6pPr>
            <a:lvl7pPr>
              <a:buNone/>
              <a:defRPr sz="2175"/>
            </a:lvl7pPr>
            <a:lvl8pPr>
              <a:buNone/>
              <a:defRPr sz="2175"/>
            </a:lvl8pPr>
            <a:lvl9pPr>
              <a:buNone/>
              <a:defRPr sz="2175"/>
            </a:lvl9pPr>
          </a:lstStyle>
          <a:p xmlns:a="http://schemas.openxmlformats.org/drawingml/2006/main">
            <a:pPr>
              <a:buNone/>
              <a:defRPr sz="2175"/>
            </a:pPr>
            <a: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Метрика параметров: g = Σ⁻¹</a:t>
            </a:r>
            <a:b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17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Ковариации: геодезическая в SPD(2)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0EB6B-4453-424A-9D28-A6BF7EA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/>
            </a:defPPr>
            <a:lvl1pPr>
              <a:buNone/>
              <a:defRPr sz="1725"/>
            </a:lvl1pPr>
            <a:lvl2pPr>
              <a:buNone/>
              <a:defRPr sz="1725"/>
            </a:lvl2pPr>
            <a:lvl3pPr>
              <a:buNone/>
              <a:defRPr sz="1725"/>
            </a:lvl3pPr>
            <a:lvl4pPr>
              <a:buNone/>
              <a:defRPr sz="1725"/>
            </a:lvl4pPr>
            <a:lvl5pPr>
              <a:buNone/>
              <a:defRPr sz="1725"/>
            </a:lvl5pPr>
            <a:lvl6pPr>
              <a:buNone/>
              <a:defRPr sz="1725"/>
            </a:lvl6pPr>
            <a:lvl7pPr>
              <a:buNone/>
              <a:defRPr sz="1725"/>
            </a:lvl7pPr>
            <a:lvl8pPr>
              <a:buNone/>
              <a:defRPr sz="1725"/>
            </a:lvl8pPr>
            <a:lvl9pPr>
              <a:buNone/>
              <a:defRPr sz="1725"/>
            </a:lvl9pPr>
          </a:lstStyle>
          <a:p xmlns:a="http://schemas.openxmlformats.org/drawingml/2006/main">
            <a:pPr>
              <a:buNone/>
              <a:defRPr sz="1725"/>
            </a:pPr>
            <a:r>
              <a:rPr sz="1725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Гауссова аппроксимация 12 оценок, не доверительная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2104019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F6611-0199-4193-9591-5176DE1A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/>
            </a:defPPr>
            <a:lvl1pPr>
              <a:buNone/>
              <a:defRPr sz="3300"/>
            </a:lvl1pPr>
            <a:lvl2pPr>
              <a:buNone/>
              <a:defRPr sz="3300"/>
            </a:lvl2pPr>
            <a:lvl3pPr>
              <a:buNone/>
              <a:defRPr sz="3300"/>
            </a:lvl3pPr>
            <a:lvl4pPr>
              <a:buNone/>
              <a:defRPr sz="3300"/>
            </a:lvl4pPr>
            <a:lvl5pPr>
              <a:buNone/>
              <a:defRPr sz="3300"/>
            </a:lvl5pPr>
            <a:lvl6pPr>
              <a:buNone/>
              <a:defRPr sz="3300"/>
            </a:lvl6pPr>
            <a:lvl7pPr>
              <a:buNone/>
              <a:defRPr sz="3300"/>
            </a:lvl7pPr>
            <a:lvl8pPr>
              <a:buNone/>
              <a:defRPr sz="3300"/>
            </a:lvl8pPr>
            <a:lvl9pPr>
              <a:buNone/>
              <a:defRPr sz="3300"/>
            </a:lvl9pPr>
          </a:lstStyle>
          <a:p xmlns:a="http://schemas.openxmlformats.org/drawingml/2006/main">
            <a:pPr>
              <a:buNone/>
              <a:defRPr sz="3300"/>
            </a:pPr>
            <a: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Синтетика: ошибка скрывает компенсацию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C777F-D758-4E5A-9F3C-4689F5DF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/>
            </a:defPPr>
            <a:lvl1pPr>
              <a:buNone/>
              <a:defRPr sz="2475"/>
            </a:lvl1pPr>
            <a:lvl2pPr>
              <a:buNone/>
              <a:defRPr sz="2475"/>
            </a:lvl2pPr>
            <a:lvl3pPr>
              <a:buNone/>
              <a:defRPr sz="2475"/>
            </a:lvl3pPr>
            <a:lvl4pPr>
              <a:buNone/>
              <a:defRPr sz="2475"/>
            </a:lvl4pPr>
            <a:lvl5pPr>
              <a:buNone/>
              <a:defRPr sz="2475"/>
            </a:lvl5pPr>
            <a:lvl6pPr>
              <a:buNone/>
              <a:defRPr sz="2475"/>
            </a:lvl6pPr>
            <a:lvl7pPr>
              <a:buNone/>
              <a:defRPr sz="2475"/>
            </a:lvl7pPr>
            <a:lvl8pPr>
              <a:buNone/>
              <a:defRPr sz="2475"/>
            </a:lvl8pPr>
            <a:lvl9pPr>
              <a:buNone/>
              <a:defRPr sz="2475"/>
            </a:lvl9pPr>
          </a:lstStyle>
          <a:p xmlns:a="http://schemas.openxmlformats.org/drawingml/2006/main">
            <a:pPr>
              <a:buNone/>
              <a:defRPr sz="2475"/>
            </a:pPr>
            <a:r>
              <a:rPr sz="2475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β: 1 → почти 0</a:t>
            </a:r>
            <a:br>
              <a:rPr sz="2475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475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ν ≈ 0,01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CD0D6-C12B-4168-A965-9C7586F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/>
            </a:defPPr>
            <a:lvl1pPr>
              <a:buNone/>
              <a:defRPr sz="2100"/>
            </a:lvl1pPr>
            <a:lvl2pPr>
              <a:buNone/>
              <a:defRPr sz="2100"/>
            </a:lvl2pPr>
            <a:lvl3pPr>
              <a:buNone/>
              <a:defRPr sz="2100"/>
            </a:lvl3pPr>
            <a:lvl4pPr>
              <a:buNone/>
              <a:defRPr sz="2100"/>
            </a:lvl4pPr>
            <a:lvl5pPr>
              <a:buNone/>
              <a:defRPr sz="2100"/>
            </a:lvl5pPr>
            <a:lvl6pPr>
              <a:buNone/>
              <a:defRPr sz="2100"/>
            </a:lvl6pPr>
            <a:lvl7pPr>
              <a:buNone/>
              <a:defRPr sz="2100"/>
            </a:lvl7pPr>
            <a:lvl8pPr>
              <a:buNone/>
              <a:defRPr sz="2100"/>
            </a:lvl8pPr>
            <a:lvl9pPr>
              <a:buNone/>
              <a:defRPr sz="2100"/>
            </a:lvl9pPr>
          </a:lstStyle>
          <a:p xmlns:a="http://schemas.openxmlformats.org/drawingml/2006/main">
            <a:pPr>
              <a:buNone/>
              <a:defRPr sz="2100"/>
            </a:pPr>
            <a:r>
              <a:rPr sz="2100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Ошибка после подбора</a:t>
            </a:r>
          </a:p>
          <a:p xmlns:a="http://schemas.openxmlformats.org/drawingml/2006/main">
            <a:pPr>
              <a:buNone/>
              <a:defRPr sz="2100"/>
            </a:pPr>
            <a:r>
              <a:rPr sz="2100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≈ 1,14% при всех 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7023E-E2D0-4AF2-A37B-92D4AFE1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/>
            </a:defPPr>
            <a:lvl1pPr>
              <a:buNone/>
              <a:defRPr sz="2100"/>
            </a:lvl1pPr>
            <a:lvl2pPr>
              <a:buNone/>
              <a:defRPr sz="2100"/>
            </a:lvl2pPr>
            <a:lvl3pPr>
              <a:buNone/>
              <a:defRPr sz="2100"/>
            </a:lvl3pPr>
            <a:lvl4pPr>
              <a:buNone/>
              <a:defRPr sz="2100"/>
            </a:lvl4pPr>
            <a:lvl5pPr>
              <a:buNone/>
              <a:defRPr sz="2100"/>
            </a:lvl5pPr>
            <a:lvl6pPr>
              <a:buNone/>
              <a:defRPr sz="2100"/>
            </a:lvl6pPr>
            <a:lvl7pPr>
              <a:buNone/>
              <a:defRPr sz="2100"/>
            </a:lvl7pPr>
            <a:lvl8pPr>
              <a:buNone/>
              <a:defRPr sz="2100"/>
            </a:lvl8pPr>
            <a:lvl9pPr>
              <a:buNone/>
              <a:defRPr sz="2100"/>
            </a:lvl9pPr>
          </a:lstStyle>
          <a:p xmlns:a="http://schemas.openxmlformats.org/drawingml/2006/main">
            <a:pPr>
              <a:buNone/>
              <a:defRPr sz="2100"/>
            </a:pPr>
            <a:r>
              <a:rPr sz="2100" b="0">
                <a:solidFill>
                  <a:srgbClr val="A94330"/>
                </a:solidFill>
                <a:latin typeface="Helvetica Neue"/>
                <a:ea typeface="Helvetica Neue"/>
                <a:cs typeface="Helvetica Neue"/>
              </a:rPr>
              <a:t>Сдвиг параметров</a:t>
            </a:r>
            <a:br>
              <a:rPr sz="2100" b="0">
                <a:solidFill>
                  <a:srgbClr val="A94330"/>
                </a:solidFill>
                <a:latin typeface="Helvetica Neue"/>
                <a:ea typeface="Helvetica Neue"/>
                <a:cs typeface="Helvetica Neue"/>
              </a:rPr>
            </a:br>
            <a:r>
              <a:rPr sz="2100" b="0">
                <a:solidFill>
                  <a:srgbClr val="A94330"/>
                </a:solidFill>
                <a:latin typeface="Helvetica Neue"/>
                <a:ea typeface="Helvetica Neue"/>
                <a:cs typeface="Helvetica Neue"/>
              </a:rPr>
              <a:t>выдаёт компенсацию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B4BB8F9-A2B8-478F-A11D-FDD4B79A3438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6762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fadc9c4d2b4e62"/>
          </a:graphicData>
        </a:graphic>
      </p:graphicFrame>
    </p:spTree>
    <p:extLst>
      <p:ext uri="{BB962C8B-B14F-4D97-AF65-F5344CB8AC3E}">
        <p14:creationId xmlns:p14="http://schemas.microsoft.com/office/powerpoint/2010/main" val="2000771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7401C-F8AA-4D03-AE72-937F8C78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/>
            </a:defPPr>
            <a:lvl1pPr>
              <a:buNone/>
              <a:defRPr sz="3300"/>
            </a:lvl1pPr>
            <a:lvl2pPr>
              <a:buNone/>
              <a:defRPr sz="3300"/>
            </a:lvl2pPr>
            <a:lvl3pPr>
              <a:buNone/>
              <a:defRPr sz="3300"/>
            </a:lvl3pPr>
            <a:lvl4pPr>
              <a:buNone/>
              <a:defRPr sz="3300"/>
            </a:lvl4pPr>
            <a:lvl5pPr>
              <a:buNone/>
              <a:defRPr sz="3300"/>
            </a:lvl5pPr>
            <a:lvl6pPr>
              <a:buNone/>
              <a:defRPr sz="3300"/>
            </a:lvl6pPr>
            <a:lvl7pPr>
              <a:buNone/>
              <a:defRPr sz="3300"/>
            </a:lvl7pPr>
            <a:lvl8pPr>
              <a:buNone/>
              <a:defRPr sz="3300"/>
            </a:lvl8pPr>
            <a:lvl9pPr>
              <a:buNone/>
              <a:defRPr sz="3300"/>
            </a:lvl9pPr>
          </a:lstStyle>
          <a:p xmlns:a="http://schemas.openxmlformats.org/drawingml/2006/main">
            <a:pPr>
              <a:buNone/>
              <a:defRPr sz="3300"/>
            </a:pPr>
            <a: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Внешние данные: давление нужно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54E10-213B-4329-88F0-801F5AAD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/>
            </a:defPPr>
            <a:lvl1pPr>
              <a:buNone/>
              <a:defRPr sz="2775"/>
            </a:lvl1pPr>
            <a:lvl2pPr>
              <a:buNone/>
              <a:defRPr sz="2775"/>
            </a:lvl2pPr>
            <a:lvl3pPr>
              <a:buNone/>
              <a:defRPr sz="2775"/>
            </a:lvl3pPr>
            <a:lvl4pPr>
              <a:buNone/>
              <a:defRPr sz="2775"/>
            </a:lvl4pPr>
            <a:lvl5pPr>
              <a:buNone/>
              <a:defRPr sz="2775"/>
            </a:lvl5pPr>
            <a:lvl6pPr>
              <a:buNone/>
              <a:defRPr sz="2775"/>
            </a:lvl6pPr>
            <a:lvl7pPr>
              <a:buNone/>
              <a:defRPr sz="2775"/>
            </a:lvl7pPr>
            <a:lvl8pPr>
              <a:buNone/>
              <a:defRPr sz="2775"/>
            </a:lvl8pPr>
            <a:lvl9pPr>
              <a:buNone/>
              <a:defRPr sz="2775"/>
            </a:lvl9pPr>
          </a:lstStyle>
          <a:p xmlns:a="http://schemas.openxmlformats.org/drawingml/2006/main">
            <a:pPr>
              <a:buNone/>
              <a:defRPr sz="2775"/>
            </a:pPr>
            <a:r>
              <a:rPr sz="2775" b="1">
                <a:solidFill>
                  <a:srgbClr val="A94330"/>
                </a:solidFill>
                <a:latin typeface="Helvetica Neue"/>
                <a:ea typeface="Helvetica Neue"/>
                <a:cs typeface="Helvetica Neue"/>
              </a:rPr>
              <a:t>0,26% → 45,27%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16BBC-343E-43CF-8F5C-0B791E8C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/>
            </a:defPPr>
            <a:lvl1pPr>
              <a:buNone/>
              <a:defRPr sz="2100"/>
            </a:lvl1pPr>
            <a:lvl2pPr>
              <a:buNone/>
              <a:defRPr sz="2100"/>
            </a:lvl2pPr>
            <a:lvl3pPr>
              <a:buNone/>
              <a:defRPr sz="2100"/>
            </a:lvl3pPr>
            <a:lvl4pPr>
              <a:buNone/>
              <a:defRPr sz="2100"/>
            </a:lvl4pPr>
            <a:lvl5pPr>
              <a:buNone/>
              <a:defRPr sz="2100"/>
            </a:lvl5pPr>
            <a:lvl6pPr>
              <a:buNone/>
              <a:defRPr sz="2100"/>
            </a:lvl6pPr>
            <a:lvl7pPr>
              <a:buNone/>
              <a:defRPr sz="2100"/>
            </a:lvl7pPr>
            <a:lvl8pPr>
              <a:buNone/>
              <a:defRPr sz="2100"/>
            </a:lvl8pPr>
            <a:lvl9pPr>
              <a:buNone/>
              <a:defRPr sz="2100"/>
            </a:lvl9pPr>
          </a:lstStyle>
          <a:p xmlns:a="http://schemas.openxmlformats.org/drawingml/2006/main">
            <a:pPr>
              <a:buNone/>
              <a:defRPr sz="2100"/>
            </a:pPr>
            <a:r>
              <a:rPr sz="2100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После переоценки</a:t>
            </a:r>
            <a:br>
              <a:rPr sz="2100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100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обоих коэффициентов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C0E0E-8F9F-4B08-8831-8B8E0411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/>
            </a:defPPr>
            <a:lvl1pPr>
              <a:buNone/>
              <a:defRPr sz="2250"/>
            </a:lvl1pPr>
            <a:lvl2pPr>
              <a:buNone/>
              <a:defRPr sz="2250"/>
            </a:lvl2pPr>
            <a:lvl3pPr>
              <a:buNone/>
              <a:defRPr sz="2250"/>
            </a:lvl3pPr>
            <a:lvl4pPr>
              <a:buNone/>
              <a:defRPr sz="2250"/>
            </a:lvl4pPr>
            <a:lvl5pPr>
              <a:buNone/>
              <a:defRPr sz="2250"/>
            </a:lvl5pPr>
            <a:lvl6pPr>
              <a:buNone/>
              <a:defRPr sz="2250"/>
            </a:lvl6pPr>
            <a:lvl7pPr>
              <a:buNone/>
              <a:defRPr sz="2250"/>
            </a:lvl7pPr>
            <a:lvl8pPr>
              <a:buNone/>
              <a:defRPr sz="2250"/>
            </a:lvl8pPr>
            <a:lvl9pPr>
              <a:buNone/>
              <a:defRPr sz="2250"/>
            </a:lvl9pPr>
          </a:lstStyle>
          <a:p xmlns:a="http://schemas.openxmlformats.org/drawingml/2006/main">
            <a:pPr>
              <a:buNone/>
              <a:defRPr sz="2250"/>
            </a:pPr>
            <a:r>
              <a:rPr sz="225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KL(P₀ ∥ P₁) ≈ 253 нат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7AC4-E941-4D65-BE9F-ACE9937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/>
            </a:defPPr>
            <a:lvl1pPr>
              <a:buNone/>
              <a:defRPr sz="1650"/>
            </a:lvl1pPr>
            <a:lvl2pPr>
              <a:buNone/>
              <a:defRPr sz="1650"/>
            </a:lvl2pPr>
            <a:lvl3pPr>
              <a:buNone/>
              <a:defRPr sz="1650"/>
            </a:lvl3pPr>
            <a:lvl4pPr>
              <a:buNone/>
              <a:defRPr sz="1650"/>
            </a:lvl4pPr>
            <a:lvl5pPr>
              <a:buNone/>
              <a:defRPr sz="1650"/>
            </a:lvl5pPr>
            <a:lvl6pPr>
              <a:buNone/>
              <a:defRPr sz="1650"/>
            </a:lvl6pPr>
            <a:lvl7pPr>
              <a:buNone/>
              <a:defRPr sz="1650"/>
            </a:lvl7pPr>
            <a:lvl8pPr>
              <a:buNone/>
              <a:defRPr sz="1650"/>
            </a:lvl8pPr>
            <a:lvl9pPr>
              <a:buNone/>
              <a:defRPr sz="1650"/>
            </a:lvl9pPr>
          </a:lstStyle>
          <a:p xmlns:a="http://schemas.openxmlformats.org/drawingml/2006/main">
            <a:pPr>
              <a:buNone/>
              <a:defRPr sz="1650"/>
            </a:pPr>
            <a:r>
              <a:rPr sz="1650" b="0">
                <a:solidFill>
                  <a:srgbClr val="607080"/>
                </a:solidFill>
                <a:latin typeface="Helvetica Neue"/>
                <a:ea typeface="Helvetica Neue"/>
                <a:cs typeface="Helvetica Neue"/>
              </a:rPr>
              <a:t>Опубликованный численный расчёт, не физические измерения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B197D99-16D4-4122-8FD0-596B54997DE5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6762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226ee3938f4a83"/>
          </a:graphicData>
        </a:graphic>
      </p:graphicFrame>
    </p:spTree>
    <p:extLst>
      <p:ext uri="{BB962C8B-B14F-4D97-AF65-F5344CB8AC3E}">
        <p14:creationId xmlns:p14="http://schemas.microsoft.com/office/powerpoint/2010/main" val="4446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80B4E-58E0-47A1-9167-0C5D11F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/>
            </a:defPPr>
            <a:lvl1pPr>
              <a:buNone/>
              <a:defRPr sz="3300"/>
            </a:lvl1pPr>
            <a:lvl2pPr>
              <a:buNone/>
              <a:defRPr sz="3300"/>
            </a:lvl2pPr>
            <a:lvl3pPr>
              <a:buNone/>
              <a:defRPr sz="3300"/>
            </a:lvl3pPr>
            <a:lvl4pPr>
              <a:buNone/>
              <a:defRPr sz="3300"/>
            </a:lvl4pPr>
            <a:lvl5pPr>
              <a:buNone/>
              <a:defRPr sz="3300"/>
            </a:lvl5pPr>
            <a:lvl6pPr>
              <a:buNone/>
              <a:defRPr sz="3300"/>
            </a:lvl6pPr>
            <a:lvl7pPr>
              <a:buNone/>
              <a:defRPr sz="3300"/>
            </a:lvl7pPr>
            <a:lvl8pPr>
              <a:buNone/>
              <a:defRPr sz="3300"/>
            </a:lvl8pPr>
            <a:lvl9pPr>
              <a:buNone/>
              <a:defRPr sz="3300"/>
            </a:lvl9pPr>
          </a:lstStyle>
          <a:p xmlns:a="http://schemas.openxmlformats.org/drawingml/2006/main">
            <a:pPr>
              <a:buNone/>
              <a:defRPr sz="3300"/>
            </a:pPr>
            <a:r>
              <a:rPr sz="330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Вывод и вопросы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753EC-68D4-4399-B20A-EAD4FBD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/>
            </a:defPPr>
            <a:lvl1pPr>
              <a:buNone/>
              <a:defRPr sz="2775"/>
            </a:lvl1pPr>
            <a:lvl2pPr>
              <a:buNone/>
              <a:defRPr sz="2775"/>
            </a:lvl2pPr>
            <a:lvl3pPr>
              <a:buNone/>
              <a:defRPr sz="2775"/>
            </a:lvl3pPr>
            <a:lvl4pPr>
              <a:buNone/>
              <a:defRPr sz="2775"/>
            </a:lvl4pPr>
            <a:lvl5pPr>
              <a:buNone/>
              <a:defRPr sz="2775"/>
            </a:lvl5pPr>
            <a:lvl6pPr>
              <a:buNone/>
              <a:defRPr sz="2775"/>
            </a:lvl6pPr>
            <a:lvl7pPr>
              <a:buNone/>
              <a:defRPr sz="2775"/>
            </a:lvl7pPr>
            <a:lvl8pPr>
              <a:buNone/>
              <a:defRPr sz="2775"/>
            </a:lvl8pPr>
            <a:lvl9pPr>
              <a:buNone/>
              <a:defRPr sz="2775"/>
            </a:lvl9pPr>
          </a:lstStyle>
          <a:p xmlns:a="http://schemas.openxmlformats.org/drawingml/2006/main">
            <a:pPr>
              <a:buNone/>
              <a:defRPr sz="2775"/>
            </a:pPr>
            <a:r>
              <a:rPr sz="2775" b="1">
                <a:solidFill>
                  <a:srgbClr val="2962A3"/>
                </a:solidFill>
                <a:latin typeface="Helvetica Neue"/>
                <a:ea typeface="Helvetica Neue"/>
                <a:cs typeface="Helvetica Neue"/>
              </a:rPr>
              <a:t>Сохраняем давление и обе ветви 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DC1B4-B3FF-40D2-952D-109F09B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/>
            </a:defPPr>
            <a:lvl1pPr>
              <a:buNone/>
              <a:defRPr sz="2100"/>
            </a:lvl1pPr>
            <a:lvl2pPr>
              <a:buNone/>
              <a:defRPr sz="2100"/>
            </a:lvl2pPr>
            <a:lvl3pPr>
              <a:buNone/>
              <a:defRPr sz="2100"/>
            </a:lvl3pPr>
            <a:lvl4pPr>
              <a:buNone/>
              <a:defRPr sz="2100"/>
            </a:lvl4pPr>
            <a:lvl5pPr>
              <a:buNone/>
              <a:defRPr sz="2100"/>
            </a:lvl5pPr>
            <a:lvl6pPr>
              <a:buNone/>
              <a:defRPr sz="2100"/>
            </a:lvl6pPr>
            <a:lvl7pPr>
              <a:buNone/>
              <a:defRPr sz="2100"/>
            </a:lvl7pPr>
            <a:lvl8pPr>
              <a:buNone/>
              <a:defRPr sz="2100"/>
            </a:lvl8pPr>
            <a:lvl9pPr>
              <a:buNone/>
              <a:defRPr sz="2100"/>
            </a:lvl9pPr>
          </a:lstStyle>
          <a:p xmlns:a="http://schemas.openxmlformats.org/drawingml/2006/main">
            <a:pPr>
              <a:buNone/>
              <a:defRPr sz="2100"/>
            </a:pPr>
            <a:r>
              <a:rPr sz="2100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Контроль p + const: параметры не меняются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EE6C7-E970-4E40-8601-5A1A044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/>
            </a:defPPr>
            <a:lvl1pPr>
              <a:buNone/>
              <a:defRPr sz="2250"/>
            </a:lvl1pPr>
            <a:lvl2pPr>
              <a:buNone/>
              <a:defRPr sz="2250"/>
            </a:lvl2pPr>
            <a:lvl3pPr>
              <a:buNone/>
              <a:defRPr sz="2250"/>
            </a:lvl3pPr>
            <a:lvl4pPr>
              <a:buNone/>
              <a:defRPr sz="2250"/>
            </a:lvl4pPr>
            <a:lvl5pPr>
              <a:buNone/>
              <a:defRPr sz="2250"/>
            </a:lvl5pPr>
            <a:lvl6pPr>
              <a:buNone/>
              <a:defRPr sz="2250"/>
            </a:lvl6pPr>
            <a:lvl7pPr>
              <a:buNone/>
              <a:defRPr sz="2250"/>
            </a:lvl7pPr>
            <a:lvl8pPr>
              <a:buNone/>
              <a:defRPr sz="2250"/>
            </a:lvl8pPr>
            <a:lvl9pPr>
              <a:buNone/>
              <a:defRPr sz="2250"/>
            </a:lvl9pPr>
          </a:lstStyle>
          <a:p xmlns:a="http://schemas.openxmlformats.org/drawingml/2006/main">
            <a:pPr>
              <a:buNone/>
              <a:defRPr sz="2250"/>
            </a:pPr>
            <a:r>
              <a:rPr sz="2250" b="1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Для обсуждения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132F8-587E-4ED9-85F6-18E94F85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/>
            </a:defPPr>
            <a:lvl1pPr>
              <a:buNone/>
              <a:defRPr sz="2025"/>
            </a:lvl1pPr>
            <a:lvl2pPr>
              <a:buNone/>
              <a:defRPr sz="2025"/>
            </a:lvl2pPr>
            <a:lvl3pPr>
              <a:buNone/>
              <a:defRPr sz="2025"/>
            </a:lvl3pPr>
            <a:lvl4pPr>
              <a:buNone/>
              <a:defRPr sz="2025"/>
            </a:lvl4pPr>
            <a:lvl5pPr>
              <a:buNone/>
              <a:defRPr sz="2025"/>
            </a:lvl5pPr>
            <a:lvl6pPr>
              <a:buNone/>
              <a:defRPr sz="2025"/>
            </a:lvl6pPr>
            <a:lvl7pPr>
              <a:buNone/>
              <a:defRPr sz="2025"/>
            </a:lvl7pPr>
            <a:lvl8pPr>
              <a:buNone/>
              <a:defRPr sz="2025"/>
            </a:lvl8pPr>
            <a:lvl9pPr>
              <a:buNone/>
              <a:defRPr sz="2025"/>
            </a:lvl9pPr>
          </a:lstStyle>
          <a:p xmlns:a="http://schemas.openxmlformats.org/drawingml/2006/main">
            <a:pPr>
              <a:buNone/>
              <a:defRPr sz="2025"/>
            </a:pPr>
            <a:r>
              <a:rPr sz="20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Подходит ли внешняя численная выборка как «реальные данные»?</a:t>
            </a:r>
            <a:br>
              <a:rPr sz="20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0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Достаточно ли метрики Σ⁻¹ и геометрии ковариаций?</a:t>
            </a:r>
            <a:br>
              <a:rPr sz="20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</a:br>
            <a:r>
              <a:rPr sz="2025" b="0">
                <a:solidFill>
                  <a:srgbClr val="253341"/>
                </a:solidFill>
                <a:latin typeface="Helvetica Neue"/>
                <a:ea typeface="Helvetica Neue"/>
                <a:cs typeface="Helvetica Neue"/>
              </a:rPr>
              <a:t>Допустимо ли зануление p на фиксированных наблюдениях?</a:t>
            </a:r>
          </a:p>
        </p:txBody>
      </p:sp>
    </p:spTree>
    <p:extLst>
      <p:ext uri="{BB962C8B-B14F-4D97-AF65-F5344CB8AC3E}">
        <p14:creationId xmlns:p14="http://schemas.microsoft.com/office/powerpoint/2010/main" val="1355112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2026-10-22T07:37:56.3990000Z</dcterms:created>
  <dcterms:modified xsi:type="dcterms:W3CDTF">2026-10-22T07:37:56.3990000Z</dcterms:modified>
</coreProperties>
</file>