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a0409631604f87" /><Relationship Type="http://schemas.openxmlformats.org/officeDocument/2006/relationships/extended-properties" Target="/docProps/app.xml" Id="R0999c80e34ea4502" /><Relationship Type="http://schemas.openxmlformats.org/officeDocument/2006/relationships/officeDocument" Target="/ppt/presentation.xml" Id="R9e01f4ab921245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ed13d8cfb54bed"/>
  </p:sldMasterIdLst>
  <p:notesMasterIdLst>
    <p:notesMasterId xmlns:r="http://schemas.openxmlformats.org/officeDocument/2006/relationships" r:id="R4f54b89b7ec74a8d"/>
  </p:notesMasterIdLst>
  <p:sldIdLst>
    <p:sldId xmlns:r="http://schemas.openxmlformats.org/officeDocument/2006/relationships" id="256" r:id="Raebdb21ffcab4ed7"/>
    <p:sldId xmlns:r="http://schemas.openxmlformats.org/officeDocument/2006/relationships" id="257" r:id="Rd4a706e93e51497c"/>
    <p:sldId xmlns:r="http://schemas.openxmlformats.org/officeDocument/2006/relationships" id="258" r:id="Rf69c7edb218240f4"/>
    <p:sldId xmlns:r="http://schemas.openxmlformats.org/officeDocument/2006/relationships" id="259" r:id="R1b025f0e31ec47c4"/>
    <p:sldId xmlns:r="http://schemas.openxmlformats.org/officeDocument/2006/relationships" id="260" r:id="Rf3f97987f5ec413d"/>
    <p:sldId xmlns:r="http://schemas.openxmlformats.org/officeDocument/2006/relationships" id="261" r:id="R42d3807b4c3c4a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73d4c741834f0c" /><Relationship Type="http://schemas.openxmlformats.org/officeDocument/2006/relationships/slideMaster" Target="/ppt/slideMasters/slideMaster1.xml" Id="R73ed13d8cfb54bed" /><Relationship Type="http://schemas.openxmlformats.org/officeDocument/2006/relationships/notesMaster" Target="/ppt/notesMasters/notesMaster1.xml" Id="R4f54b89b7ec74a8d" /><Relationship Type="http://schemas.openxmlformats.org/officeDocument/2006/relationships/presProps" Target="/ppt/presProps.xml" Id="R8b8dd590b88446b4" /><Relationship Type="http://schemas.openxmlformats.org/officeDocument/2006/relationships/tableStyles" Target="/ppt/tableStyles.xml" Id="Rb7051226513a4487" /><Relationship Type="http://schemas.openxmlformats.org/officeDocument/2006/relationships/slide" Target="/ppt/slides/slide1.xml" Id="Raebdb21ffcab4ed7" /><Relationship Type="http://schemas.openxmlformats.org/officeDocument/2006/relationships/slide" Target="/ppt/slides/slide2.xml" Id="Rd4a706e93e51497c" /><Relationship Type="http://schemas.openxmlformats.org/officeDocument/2006/relationships/slide" Target="/ppt/slides/slide3.xml" Id="Rf69c7edb218240f4" /><Relationship Type="http://schemas.openxmlformats.org/officeDocument/2006/relationships/slide" Target="/ppt/slides/slide4.xml" Id="R1b025f0e31ec47c4" /><Relationship Type="http://schemas.openxmlformats.org/officeDocument/2006/relationships/slide" Target="/ppt/slides/slide5.xml" Id="Rf3f97987f5ec413d" /><Relationship Type="http://schemas.openxmlformats.org/officeDocument/2006/relationships/slide" Target="/ppt/slides/slide6.xml" Id="R42d3807b4c3c4a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8cb8777d514d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c53a5a41d641cc" /><Relationship Type="http://schemas.openxmlformats.org/officeDocument/2006/relationships/notesMaster" Target="/ppt/notesMasters/notesMaster1.xml" Id="R13221cb0bd8d41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0584e26b8f44ce" /><Relationship Type="http://schemas.openxmlformats.org/officeDocument/2006/relationships/notesMaster" Target="/ppt/notesMasters/notesMaster1.xml" Id="R754e526b0ae54d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ce416b74a14772" /><Relationship Type="http://schemas.openxmlformats.org/officeDocument/2006/relationships/notesMaster" Target="/ppt/notesMasters/notesMaster1.xml" Id="R8798649d84354f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3763fbcd684a1f" /><Relationship Type="http://schemas.openxmlformats.org/officeDocument/2006/relationships/notesMaster" Target="/ppt/notesMasters/notesMaster1.xml" Id="R8901b69037bf45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93fce1d48a46e0" /><Relationship Type="http://schemas.openxmlformats.org/officeDocument/2006/relationships/notesMaster" Target="/ppt/notesMasters/notesMaster1.xml" Id="Rbe7a1e3dec244c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7f5fc2a52e448b" /><Relationship Type="http://schemas.openxmlformats.org/officeDocument/2006/relationships/notesMaster" Target="/ppt/notesMasters/notesMaster1.xml" Id="Rc8d8f907856b49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Я взял модель Ивана из первой лабораторной. Вторая работа посвящена выбору элементов графа: можно ли убрать давление, если остальные коэффициенты подобрать заново? Мой вариант 2–1–2: оценка ковариаций параметров и риманова геометрия, зануление наблюдаемой переменной, KL-дивергенция.</a:t>
            </a:r>
          </a:p>
          <a:p xmlns:a="http://schemas.openxmlformats.org/drawingml/2006/main">
            <a:r>
              <a:t>Источник модели: https://github.com/papayiv/NavieStocks_project/tree/66eb7bc73cd802a3249c058ad69fc59a95fbd807</a:t>
            </a:r>
          </a:p>
          <a:p xmlns:a="http://schemas.openxmlformats.org/drawingml/2006/main">
            <a:r>
              <a:t>Задание: Лабораторная работа №2, вариант Дмитрия от 20.10.2026.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Рассматривается несжимаемая жидкость с плотностью один, без внешней силы. В исходном графе коэффициент конвекции равен единице. Я сделал его оцениваемым параметром β вместе с вязкостью ν. Это позволяет заметить компенсацию одного члена другим. Исходный граф Ивана сохранён без изменений. Давление — узел 2, его рёбра к производным имеют номера 2→16 и 2→31. В интервенции давление и его градиенты равны нулю, скорости и наблюдаемые ускорения сохраняются. Это анализ вычислительного графа на фиксированных данных, а не физический опыт с пересчётом всего течения.</a:t>
            </a:r>
          </a:p>
          <a:p xmlns:a="http://schemas.openxmlformats.org/drawingml/2006/main">
            <a:r>
              <a:t>Источники: navier_stokes_tree.py в репозитории Ивана. Параметризация: https://maziarraissi.github.io/PINNs/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Первые 120 кадров разбиты на 12 непересекающихся временных окон. На каждом окне я решаю линейную задачу МНК по двум уравнениям сразу, через SVD. Из 12 векторов считаю среднее и полную ковариационную матрицу, затем использую гауссову аппроксимацию. Поздние кадры отделены четырьмя пропущенными кадрами. Они не участвуют в подборе. Это разброс оценок по окнам, а не байесовский posterior. Окна внешней траектории могут быть зависимы. В пространстве параметров локальная метрика равна обратной ковариации. Для ковариаций отдельно использована аффинно-инвариантная геометрия SPD. Она дополняет основную KL и не заменяет её.</a:t>
            </a:r>
          </a:p>
          <a:p xmlns:a="http://schemas.openxmlformats.org/drawingml/2006/main">
            <a:r>
              <a:t>Источники: https://doi.org/10.1007/s11263-005-3222-z ; https://arxiv.org/abs/2102.05485 ; результаты results/lab2/metrics.json.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Синтетический пример — точный вихрь Тейлора — Грина. В наблюдаемые ускорения добавлена погрешность один процент RMS, скорости и давление точные. При уменьшении давления оценка β уменьшается почти как один минус α. Вязкость остаётся около 0,01. После переоценки ошибка ускорения остаётся примерно 1,14 процента: конвекция и градиент давления в этом течении компенсируют друг друга. Но распределение β сдвигается на величину, которая намного больше исходного разброса, и KL очень велика. Поэтому малой ошибки недостаточно для удаления давления.</a:t>
            </a:r>
          </a:p>
          <a:p xmlns:a="http://schemas.openxmlformats.org/drawingml/2006/main">
            <a:r>
              <a:t>Числа: results/lab2/metrics.json, раздел Тейлор — Грин. Формулы точного решения приведены в ноутбуке lab2.ipynb.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внешней проверки использованы опубликованные данные Nektar++ о следе за цилиндром при Re=100, из открытых материалов Raissi и соавторов. Это численная симуляция. В ней есть давление, которого нет в загруженном Иваном файле PDEBench. Сохраняется та же система уравнений. На исходных данных найдено β=0,999429 и ν=0,010030. При полном занулении давления получаем β=0,797537 и ν=0,005644, а ошибка ускорения на поздних кадрах возрастает с 0,268 до 45,252 процента. KL в выбранном направлении примерно 250 нат. Оценка будущего течения здесь не проводится: сравниваются ускорения, вычисленные из локального уравнения.</a:t>
            </a:r>
          </a:p>
          <a:p xmlns:a="http://schemas.openxmlformats.org/drawingml/2006/main">
            <a:r>
              <a:t>Источники: https://maziarraissi.github.io/PINNs/ ; https://doi.org/10.1016/j.jcp.2018.10.045 ; results/lab2/metrics.json.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обоих опытах я сохраняю давление и обе его связи с производными. Правило для кандидата на удаление: исходная ошибка не выше пяти процентов, KL не больше 0,1, рост относительной ошибки не больше одного процентного пункта и положительные общие оценки коэффициентов. Это учебное рабочее правило, не статистический тест. В синтетике отказ вызван сдвигом параметров, во внешней выборке ещё и ростом ошибки. Отрицательный контроль p+3 сохраняет градиенты и параметры. Для обсуждения остаются три вопроса: считаются ли внешние численные данные реальными, достаточно ли геометрии ковариаций для второго варианта, подходит ли абляция входа p на фиксированных наблюдениях как интервенция в этой работе.</a:t>
            </a:r>
          </a:p>
          <a:p xmlns:a="http://schemas.openxmlformats.org/drawingml/2006/main">
            <a:r>
              <a:t>Требования: Лабораторная работа №2.pdf. Расчёты: results/lab2/metrics.json.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4a2d9dfa7e4c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2ceb42daa34f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edd33235334a5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72611d95eb4c9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4d629a741e492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74507bbea548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C45CD7-3698-4881-9013-EA8D9BE63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5D4E209-F48F-47D0-BB81-516A462D21A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EE1AB83-1F54-41E6-82AC-A747E4CF12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C86BBB-8898-4BC1-971B-2730BF858C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9BE794-AC54-4609-A069-1F712BD60C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B21CB18-71FC-4671-B72F-58ECF62F31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6150BE9-1729-4C73-9A10-B5982A947D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394DD32-896C-482C-B8F0-EBE1FF29BE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B75C47-65C4-476E-AEF7-94632897D5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B163BC-6D5D-4749-8E02-145D576023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a08accf63f4ce2" /><Relationship Type="http://schemas.openxmlformats.org/officeDocument/2006/relationships/slideLayout" Target="/ppt/slideLayouts/slideLayout1.xml" Id="Ra74efc5cea1b41ff" /><Relationship Type="http://schemas.openxmlformats.org/officeDocument/2006/relationships/slideLayout" Target="/ppt/slideLayouts/slideLayout2.xml" Id="R827403cf72d24132" /><Relationship Type="http://schemas.openxmlformats.org/officeDocument/2006/relationships/slideLayout" Target="/ppt/slideLayouts/slideLayout3.xml" Id="R4817ec98eb9047eb" /><Relationship Type="http://schemas.openxmlformats.org/officeDocument/2006/relationships/slideLayout" Target="/ppt/slideLayouts/slideLayout4.xml" Id="R095ee2ad78fe472e" /><Relationship Type="http://schemas.openxmlformats.org/officeDocument/2006/relationships/slideLayout" Target="/ppt/slideLayouts/slideLayout5.xml" Id="Re0d3f94cb0e84da8" /><Relationship Type="http://schemas.openxmlformats.org/officeDocument/2006/relationships/slideLayout" Target="/ppt/slideLayouts/slideLayout6.xml" Id="R120928665eb749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4efc5cea1b41ff"/>
    <p:sldLayoutId xmlns:r="http://schemas.openxmlformats.org/officeDocument/2006/relationships" id="2147483650" r:id="R827403cf72d24132"/>
    <p:sldLayoutId xmlns:r="http://schemas.openxmlformats.org/officeDocument/2006/relationships" id="2147483651" r:id="R4817ec98eb9047eb"/>
    <p:sldLayoutId xmlns:r="http://schemas.openxmlformats.org/officeDocument/2006/relationships" id="2147483652" r:id="R095ee2ad78fe472e"/>
    <p:sldLayoutId xmlns:r="http://schemas.openxmlformats.org/officeDocument/2006/relationships" id="2147483653" r:id="Re0d3f94cb0e84da8"/>
    <p:sldLayoutId xmlns:r="http://schemas.openxmlformats.org/officeDocument/2006/relationships" id="2147483654" r:id="R120928665eb749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54e7f5173445ec" /><Relationship Type="http://schemas.openxmlformats.org/officeDocument/2006/relationships/notesSlide" Target="/ppt/notesSlides/notesSlide1.xml" Id="Rf4ae17f79f6045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701f2ba0c64f1b" /><Relationship Type="http://schemas.openxmlformats.org/officeDocument/2006/relationships/notesSlide" Target="/ppt/notesSlides/notesSlide2.xml" Id="Rd7b4f7c4d85549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04038774c342aa" /><Relationship Type="http://schemas.openxmlformats.org/officeDocument/2006/relationships/notesSlide" Target="/ppt/notesSlides/notesSlide3.xml" Id="R43deb6508b364c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41130469984ef1" /><Relationship Type="http://schemas.openxmlformats.org/officeDocument/2006/relationships/chart" Target="/ppt/slides/charts/chart1.xml" Id="Rd3e64437c672486d" /><Relationship Type="http://schemas.openxmlformats.org/officeDocument/2006/relationships/notesSlide" Target="/ppt/notesSlides/notesSlide4.xml" Id="Rd33646fad7b840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3ee5f0b1ed41ba" /><Relationship Type="http://schemas.openxmlformats.org/officeDocument/2006/relationships/chart" Target="/ppt/slides/charts/chart2.xml" Id="Rdf217d979b644de7" /><Relationship Type="http://schemas.openxmlformats.org/officeDocument/2006/relationships/notesSlide" Target="/ppt/notesSlides/notesSlide5.xml" Id="R969fbf17305a41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c67bed76c64664" /><Relationship Type="http://schemas.openxmlformats.org/officeDocument/2006/relationships/notesSlide" Target="/ppt/notesSlides/notesSlide6.xml" Id="R36862d45c0a74f7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Коэффициент β</c:v>
          </c:tx>
          <c:spPr>
            <a:ln xmlns:a="http://schemas.openxmlformats.org/drawingml/2006/main" w="28575">
              <a:solidFill>
                <a:srgbClr val="2962A3"/>
              </a:solidFill>
            </a:ln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</c:numCache>
            </c:numRef>
          </c:cat>
          <c:val>
            <c:numRef>
              <c:f>'Chart Data'!$B$2:$B$6</c:f>
              <c:numCache>
                <c:formatCode>0.00</c:formatCode>
                <c:ptCount val="5"/>
                <c:pt idx="0">
                  <c:v>1.00000062017</c:v>
                </c:pt>
                <c:pt idx="1">
                  <c:v>0.750000620175</c:v>
                </c:pt>
                <c:pt idx="2">
                  <c:v>0.500000620175</c:v>
                </c:pt>
                <c:pt idx="3">
                  <c:v>0.250000620175</c:v>
                </c:pt>
                <c:pt idx="4">
                  <c:v>6.20174520091E-07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Helvetica Neue"/>
                    <a:ea typeface="Helvetica Neue"/>
                    <a:cs typeface="Helvetica Neue"/>
                  </a:rPr>
                  <a:t>α: доля убранного давления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1.0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Helvetica Neue"/>
                    <a:ea typeface="Helvetica Neue"/>
                    <a:cs typeface="Helvetica Neue"/>
                  </a:rPr>
                  <a:t>Коэффициент β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Ошибка ускорения</c:v>
          </c:tx>
          <c:spPr>
            <a:ln xmlns:a="http://schemas.openxmlformats.org/drawingml/2006/main" w="28575">
              <a:solidFill>
                <a:srgbClr val="2962A3"/>
              </a:solidFill>
            </a:ln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</c:numCache>
            </c:numRef>
          </c:cat>
          <c:val>
            <c:numRef>
              <c:f>'Chart Data'!$B$2:$B$6</c:f>
              <c:numCache>
                <c:formatCode>0%</c:formatCode>
                <c:ptCount val="5"/>
                <c:pt idx="0">
                  <c:v>0.0026809857847</c:v>
                </c:pt>
                <c:pt idx="1">
                  <c:v>0.11315932169</c:v>
                </c:pt>
                <c:pt idx="2">
                  <c:v>0.226272555268</c:v>
                </c:pt>
                <c:pt idx="3">
                  <c:v>0.339396374806</c:v>
                </c:pt>
                <c:pt idx="4">
                  <c:v>0.452522841386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Helvetica Neue"/>
                    <a:ea typeface="Helvetica Neue"/>
                    <a:cs typeface="Helvetica Neue"/>
                  </a:rPr>
                  <a:t>α: доля убранного давления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Helvetica Neue"/>
                    <a:ea typeface="Helvetica Neue"/>
                    <a:cs typeface="Helvetica Neue"/>
                  </a:rPr>
                  <a:t>Ошибка ускорения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84355-3929-4CB6-8AFB-DC828006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/>
            </a:defPPr>
            <a:lvl1pPr>
              <a:defRPr sz="3300"/>
            </a:lvl1pPr>
            <a:lvl2pPr>
              <a:defRPr sz="3300"/>
            </a:lvl2pPr>
            <a:lvl3pPr>
              <a:defRPr sz="33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 xmlns:a="http://schemas.openxmlformats.org/drawingml/2006/main">
            <a:pPr>
              <a:defRPr sz="3300"/>
            </a:pPr>
            <a:r>
              <a:rPr sz="330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Давление в графе</a:t>
            </a:r>
            <a:br>
              <a:rPr sz="330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330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Навье — Стокса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389FA-5F49-4FB9-B327-0BE968E9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/>
            </a:defPPr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 xmlns:a="http://schemas.openxmlformats.org/drawingml/2006/main">
            <a:pPr>
              <a:defRPr sz="2400"/>
            </a:pPr>
            <a:r>
              <a:rPr sz="2400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Лабораторная работа №2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23A0E-DA12-4B43-B7F8-C1EC159D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/>
            </a:defPPr>
            <a:lvl1pPr>
              <a:defRPr sz="2850"/>
            </a:lvl1pPr>
            <a:lvl2pPr>
              <a:defRPr sz="2850"/>
            </a:lvl2pPr>
            <a:lvl3pPr>
              <a:defRPr sz="2850"/>
            </a:lvl3pPr>
            <a:lvl4pPr>
              <a:defRPr sz="2850"/>
            </a:lvl4pPr>
            <a:lvl5pPr>
              <a:defRPr sz="2850"/>
            </a:lvl5pPr>
            <a:lvl6pPr>
              <a:defRPr sz="2850"/>
            </a:lvl6pPr>
            <a:lvl7pPr>
              <a:defRPr sz="2850"/>
            </a:lvl7pPr>
            <a:lvl8pPr>
              <a:defRPr sz="2850"/>
            </a:lvl8pPr>
            <a:lvl9pPr>
              <a:defRPr sz="2850"/>
            </a:lvl9pPr>
          </a:lstStyle>
          <a:p xmlns:a="http://schemas.openxmlformats.org/drawingml/2006/main">
            <a:pPr>
              <a:defRPr sz="2850"/>
            </a:pPr>
            <a:r>
              <a:rPr sz="2850" b="1">
                <a:solidFill>
                  <a:srgbClr val="2962A3"/>
                </a:solidFill>
                <a:latin typeface="Helvetica Neue"/>
                <a:ea typeface="Helvetica Neue"/>
                <a:cs typeface="Helvetica Neue"/>
              </a:rPr>
              <a:t>Вариант 2–1–2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C3B742-C119-4615-A827-373120B4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477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/>
            </a:defPPr>
            <a:lvl1pPr>
              <a:defRPr sz="2175"/>
            </a:lvl1pPr>
            <a:lvl2pPr>
              <a:defRPr sz="2175"/>
            </a:lvl2pPr>
            <a:lvl3pPr>
              <a:defRPr sz="2175"/>
            </a:lvl3pPr>
            <a:lvl4pPr>
              <a:defRPr sz="2175"/>
            </a:lvl4pPr>
            <a:lvl5pPr>
              <a:defRPr sz="2175"/>
            </a:lvl5pPr>
            <a:lvl6pPr>
              <a:defRPr sz="2175"/>
            </a:lvl6pPr>
            <a:lvl7pPr>
              <a:defRPr sz="2175"/>
            </a:lvl7pPr>
            <a:lvl8pPr>
              <a:defRPr sz="2175"/>
            </a:lvl8pPr>
            <a:lvl9pPr>
              <a:defRPr sz="2175"/>
            </a:lvl9pPr>
          </a:lstStyle>
          <a:p xmlns:a="http://schemas.openxmlformats.org/drawingml/2006/main">
            <a:pPr>
              <a:defRPr sz="2175"/>
            </a:pPr>
            <a: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Ковариации параметров и риманова геометрия</a:t>
            </a:r>
            <a:b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Зануление давления</a:t>
            </a:r>
            <a:b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KL-дивергенция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1A766-2B94-4A08-8375-F94E167E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/>
            </a:defPPr>
            <a:lvl1pPr>
              <a:defRPr sz="1650"/>
            </a:lvl1pPr>
            <a:lvl2pPr>
              <a:defRPr sz="1650"/>
            </a:lvl2pPr>
            <a:lvl3pPr>
              <a:defRPr sz="1650"/>
            </a:lvl3pPr>
            <a:lvl4pPr>
              <a:defRPr sz="1650"/>
            </a:lvl4pPr>
            <a:lvl5pPr>
              <a:defRPr sz="1650"/>
            </a:lvl5pPr>
            <a:lvl6pPr>
              <a:defRPr sz="1650"/>
            </a:lvl6pPr>
            <a:lvl7pPr>
              <a:defRPr sz="1650"/>
            </a:lvl7pPr>
            <a:lvl8pPr>
              <a:defRPr sz="1650"/>
            </a:lvl8pPr>
            <a:lvl9pPr>
              <a:defRPr sz="1650"/>
            </a:lvl9pPr>
          </a:lstStyle>
          <a:p xmlns:a="http://schemas.openxmlformats.org/drawingml/2006/main">
            <a:pPr>
              <a:defRPr sz="1650"/>
            </a:pPr>
            <a:r>
              <a:rPr sz="1650" b="0">
                <a:solidFill>
                  <a:srgbClr val="607080"/>
                </a:solidFill>
                <a:latin typeface="Helvetica Neue"/>
                <a:ea typeface="Helvetica Neue"/>
                <a:cs typeface="Helvetica Neue"/>
              </a:rPr>
              <a:t>Модель Ивана. Черновик к обсуждению 22 октября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15971022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899D4-3214-496D-975A-A80F5620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/>
            </a:defPPr>
            <a:lvl1pPr>
              <a:defRPr sz="3300"/>
            </a:lvl1pPr>
            <a:lvl2pPr>
              <a:defRPr sz="3300"/>
            </a:lvl2pPr>
            <a:lvl3pPr>
              <a:defRPr sz="33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 xmlns:a="http://schemas.openxmlformats.org/drawingml/2006/main">
            <a:pPr>
              <a:defRPr sz="3300"/>
            </a:pPr>
            <a:r>
              <a:rPr sz="330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Уравнение и интервенция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7907F4-C351-4430-AF8E-4C333C63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550"/>
            </a:defPPr>
            <a:lvl1pPr>
              <a:defRPr sz="2550"/>
            </a:lvl1pPr>
            <a:lvl2pPr>
              <a:defRPr sz="2550"/>
            </a:lvl2pPr>
            <a:lvl3pPr>
              <a:defRPr sz="2550"/>
            </a:lvl3pPr>
            <a:lvl4pPr>
              <a:defRPr sz="2550"/>
            </a:lvl4pPr>
            <a:lvl5pPr>
              <a:defRPr sz="2550"/>
            </a:lvl5pPr>
            <a:lvl6pPr>
              <a:defRPr sz="2550"/>
            </a:lvl6pPr>
            <a:lvl7pPr>
              <a:defRPr sz="2550"/>
            </a:lvl7pPr>
            <a:lvl8pPr>
              <a:defRPr sz="2550"/>
            </a:lvl8pPr>
            <a:lvl9pPr>
              <a:defRPr sz="2550"/>
            </a:lvl9pPr>
          </a:lstStyle>
          <a:p xmlns:a="http://schemas.openxmlformats.org/drawingml/2006/main">
            <a:pPr>
              <a:defRPr sz="2550"/>
            </a:pPr>
            <a:r>
              <a:rPr sz="255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uₜ + β(uuₓ + vuᵧ) = −pₓ + ν(uₓₓ + uᵧᵧ)</a:t>
            </a:r>
            <a:br>
              <a:rPr sz="255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55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vₜ + β(uvₓ + vvᵧ) = −pᵧ + ν(vₓₓ + vᵧᵧ)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45ADD-AA29-488A-8D10-D9B25858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/>
            </a:defPPr>
            <a:lvl1pPr>
              <a:defRPr sz="2175"/>
            </a:lvl1pPr>
            <a:lvl2pPr>
              <a:defRPr sz="2175"/>
            </a:lvl2pPr>
            <a:lvl3pPr>
              <a:defRPr sz="2175"/>
            </a:lvl3pPr>
            <a:lvl4pPr>
              <a:defRPr sz="2175"/>
            </a:lvl4pPr>
            <a:lvl5pPr>
              <a:defRPr sz="2175"/>
            </a:lvl5pPr>
            <a:lvl6pPr>
              <a:defRPr sz="2175"/>
            </a:lvl6pPr>
            <a:lvl7pPr>
              <a:defRPr sz="2175"/>
            </a:lvl7pPr>
            <a:lvl8pPr>
              <a:defRPr sz="2175"/>
            </a:lvl8pPr>
            <a:lvl9pPr>
              <a:defRPr sz="2175"/>
            </a:lvl9pPr>
          </a:lstStyle>
          <a:p xmlns:a="http://schemas.openxmlformats.org/drawingml/2006/main">
            <a:pPr>
              <a:defRPr sz="2175"/>
            </a:pPr>
            <a: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θ = (β, ν)     Ожидаем β = 1, ν = 0,01</a:t>
            </a:r>
            <a:b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Несжимаемость: uₓ + vᵧ = 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2555C-3F13-4249-8750-6316E512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/>
            </a:defPPr>
            <a:lvl1pPr>
              <a:defRPr sz="2250"/>
            </a:lvl1pPr>
            <a:lvl2pPr>
              <a:defRPr sz="2250"/>
            </a:lvl2pPr>
            <a:lvl3pPr>
              <a:defRPr sz="225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 xmlns:a="http://schemas.openxmlformats.org/drawingml/2006/main">
            <a:pPr>
              <a:defRPr sz="2250"/>
            </a:pPr>
            <a:r>
              <a:rPr sz="2250" b="0">
                <a:solidFill>
                  <a:srgbClr val="A94330"/>
                </a:solidFill>
                <a:latin typeface="Helvetica Neue"/>
                <a:ea typeface="Helvetica Neue"/>
                <a:cs typeface="Helvetica Neue"/>
              </a:rPr>
              <a:t>pα = (1 − α)p,  α от 0 до 1</a:t>
            </a:r>
            <a:br>
              <a:rPr sz="2250" b="0">
                <a:solidFill>
                  <a:srgbClr val="A94330"/>
                </a:solidFill>
                <a:latin typeface="Helvetica Neue"/>
                <a:ea typeface="Helvetica Neue"/>
                <a:cs typeface="Helvetica Neue"/>
              </a:rPr>
            </a:br>
            <a:r>
              <a:rPr sz="2250" b="0">
                <a:solidFill>
                  <a:srgbClr val="A94330"/>
                </a:solidFill>
                <a:latin typeface="Helvetica Neue"/>
                <a:ea typeface="Helvetica Neue"/>
                <a:cs typeface="Helvetica Neue"/>
              </a:rPr>
              <a:t>При α = 1 обе ветви градиента давления выключены</a:t>
            </a:r>
          </a:p>
        </p:txBody>
      </p:sp>
    </p:spTree>
    <p:extLst>
      <p:ext uri="{BB962C8B-B14F-4D97-AF65-F5344CB8AC3E}">
        <p14:creationId xmlns:p14="http://schemas.microsoft.com/office/powerpoint/2010/main" val="14143233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13605-A506-44CE-B054-10E42E36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/>
            </a:defPPr>
            <a:lvl1pPr>
              <a:defRPr sz="3300"/>
            </a:lvl1pPr>
            <a:lvl2pPr>
              <a:defRPr sz="3300"/>
            </a:lvl2pPr>
            <a:lvl3pPr>
              <a:defRPr sz="33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 xmlns:a="http://schemas.openxmlformats.org/drawingml/2006/main">
            <a:pPr>
              <a:defRPr sz="3300"/>
            </a:pPr>
            <a:r>
              <a:rPr sz="330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Распределения оценок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05249-A8B8-4F5D-B40A-CE63C9F8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/>
            </a:defPPr>
            <a:lvl1pPr>
              <a:defRPr sz="2325"/>
            </a:lvl1pPr>
            <a:lvl2pPr>
              <a:defRPr sz="2325"/>
            </a:lvl2pPr>
            <a:lvl3pPr>
              <a:defRPr sz="2325"/>
            </a:lvl3pPr>
            <a:lvl4pPr>
              <a:defRPr sz="2325"/>
            </a:lvl4pPr>
            <a:lvl5pPr>
              <a:defRPr sz="2325"/>
            </a:lvl5pPr>
            <a:lvl6pPr>
              <a:defRPr sz="2325"/>
            </a:lvl6pPr>
            <a:lvl7pPr>
              <a:defRPr sz="2325"/>
            </a:lvl7pPr>
            <a:lvl8pPr>
              <a:defRPr sz="2325"/>
            </a:lvl8pPr>
            <a:lvl9pPr>
              <a:defRPr sz="2325"/>
            </a:lvl9pPr>
          </a:lstStyle>
          <a:p xmlns:a="http://schemas.openxmlformats.org/drawingml/2006/main">
            <a:pPr>
              <a:defRPr sz="2325"/>
            </a:pPr>
            <a:r>
              <a:rPr sz="232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МНК по 12 временным окнам</a:t>
            </a:r>
            <a:br>
              <a:rPr sz="232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32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Среднее μ и полная ковариация 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BAA1AE-1280-4D40-B944-AA57612B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/>
            </a:defPPr>
            <a:lvl1pPr>
              <a:defRPr sz="2475"/>
            </a:lvl1pPr>
            <a:lvl2pPr>
              <a:defRPr sz="2475"/>
            </a:lvl2pPr>
            <a:lvl3pPr>
              <a:defRPr sz="2475"/>
            </a:lvl3pPr>
            <a:lvl4pPr>
              <a:defRPr sz="2475"/>
            </a:lvl4pPr>
            <a:lvl5pPr>
              <a:defRPr sz="2475"/>
            </a:lvl5pPr>
            <a:lvl6pPr>
              <a:defRPr sz="2475"/>
            </a:lvl6pPr>
            <a:lvl7pPr>
              <a:defRPr sz="2475"/>
            </a:lvl7pPr>
            <a:lvl8pPr>
              <a:defRPr sz="2475"/>
            </a:lvl8pPr>
            <a:lvl9pPr>
              <a:defRPr sz="2475"/>
            </a:lvl9pPr>
          </a:lstStyle>
          <a:p xmlns:a="http://schemas.openxmlformats.org/drawingml/2006/main">
            <a:pPr>
              <a:defRPr sz="2475"/>
            </a:pPr>
            <a:r>
              <a:rPr sz="2475" b="1">
                <a:solidFill>
                  <a:srgbClr val="2962A3"/>
                </a:solidFill>
                <a:latin typeface="Helvetica Neue"/>
                <a:ea typeface="Helvetica Neue"/>
                <a:cs typeface="Helvetica Neue"/>
              </a:rPr>
              <a:t>P₀ = N(μ₀, Σ₀)       Pα = N(μα, Σα)</a:t>
            </a:r>
            <a:br>
              <a:rPr sz="2475" b="1">
                <a:solidFill>
                  <a:srgbClr val="2962A3"/>
                </a:solidFill>
                <a:latin typeface="Helvetica Neue"/>
                <a:ea typeface="Helvetica Neue"/>
                <a:cs typeface="Helvetica Neue"/>
              </a:rPr>
            </a:br>
            <a:r>
              <a:rPr sz="2475" b="1">
                <a:solidFill>
                  <a:srgbClr val="2962A3"/>
                </a:solidFill>
                <a:latin typeface="Helvetica Neue"/>
                <a:ea typeface="Helvetica Neue"/>
                <a:cs typeface="Helvetica Neue"/>
              </a:rPr>
              <a:t>Основная мера: KL(P₀ ∥ Pα)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C7DCD-B37F-476C-9F3B-323629B9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/>
            </a:defPPr>
            <a:lvl1pPr>
              <a:defRPr sz="2175"/>
            </a:lvl1pPr>
            <a:lvl2pPr>
              <a:defRPr sz="2175"/>
            </a:lvl2pPr>
            <a:lvl3pPr>
              <a:defRPr sz="2175"/>
            </a:lvl3pPr>
            <a:lvl4pPr>
              <a:defRPr sz="2175"/>
            </a:lvl4pPr>
            <a:lvl5pPr>
              <a:defRPr sz="2175"/>
            </a:lvl5pPr>
            <a:lvl6pPr>
              <a:defRPr sz="2175"/>
            </a:lvl6pPr>
            <a:lvl7pPr>
              <a:defRPr sz="2175"/>
            </a:lvl7pPr>
            <a:lvl8pPr>
              <a:defRPr sz="2175"/>
            </a:lvl8pPr>
            <a:lvl9pPr>
              <a:defRPr sz="2175"/>
            </a:lvl9pPr>
          </a:lstStyle>
          <a:p xmlns:a="http://schemas.openxmlformats.org/drawingml/2006/main">
            <a:pPr>
              <a:defRPr sz="2175"/>
            </a:pPr>
            <a: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Метрика параметров: g = Σ⁻¹</a:t>
            </a:r>
            <a:b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17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Ковариации: геодезическая в SPD(2)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0EB6B-4453-424A-9D28-A6BF7EA7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/>
            </a:defPPr>
            <a:lvl1pPr>
              <a:defRPr sz="1725"/>
            </a:lvl1pPr>
            <a:lvl2pPr>
              <a:defRPr sz="1725"/>
            </a:lvl2pPr>
            <a:lvl3pPr>
              <a:defRPr sz="1725"/>
            </a:lvl3pPr>
            <a:lvl4pPr>
              <a:defRPr sz="1725"/>
            </a:lvl4pPr>
            <a:lvl5pPr>
              <a:defRPr sz="1725"/>
            </a:lvl5pPr>
            <a:lvl6pPr>
              <a:defRPr sz="1725"/>
            </a:lvl6pPr>
            <a:lvl7pPr>
              <a:defRPr sz="1725"/>
            </a:lvl7pPr>
            <a:lvl8pPr>
              <a:defRPr sz="1725"/>
            </a:lvl8pPr>
            <a:lvl9pPr>
              <a:defRPr sz="1725"/>
            </a:lvl9pPr>
          </a:lstStyle>
          <a:p xmlns:a="http://schemas.openxmlformats.org/drawingml/2006/main">
            <a:pPr>
              <a:defRPr sz="1725"/>
            </a:pPr>
            <a:r>
              <a:rPr sz="1725" b="0">
                <a:solidFill>
                  <a:srgbClr val="607080"/>
                </a:solidFill>
                <a:latin typeface="Helvetica Neue"/>
                <a:ea typeface="Helvetica Neue"/>
                <a:cs typeface="Helvetica Neue"/>
              </a:rPr>
              <a:t>Гауссова аппроксимация 12 оценок, не доверительная область</a:t>
            </a:r>
          </a:p>
        </p:txBody>
      </p:sp>
    </p:spTree>
    <p:extLst>
      <p:ext uri="{BB962C8B-B14F-4D97-AF65-F5344CB8AC3E}">
        <p14:creationId xmlns:p14="http://schemas.microsoft.com/office/powerpoint/2010/main" val="21040194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F6611-0199-4193-9591-5176DE1A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/>
            </a:defPPr>
            <a:lvl1pPr>
              <a:defRPr sz="3300"/>
            </a:lvl1pPr>
            <a:lvl2pPr>
              <a:defRPr sz="3300"/>
            </a:lvl2pPr>
            <a:lvl3pPr>
              <a:defRPr sz="33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 xmlns:a="http://schemas.openxmlformats.org/drawingml/2006/main">
            <a:pPr>
              <a:defRPr sz="3300"/>
            </a:pPr>
            <a:r>
              <a:rPr sz="330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Синтетика: ошибка скрывает компенсацию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FC86EA25-B209-4C6F-AF34-AB49A51F85D3}"/>
              </a:ext>
            </a:extLst>
          </p:cNvPr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7627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e64437c672486d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CC777F-D758-4E5A-9F3C-4689F5DF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/>
            </a:defPPr>
            <a:lvl1pPr>
              <a:defRPr sz="2475"/>
            </a:lvl1pPr>
            <a:lvl2pPr>
              <a:defRPr sz="2475"/>
            </a:lvl2pPr>
            <a:lvl3pPr>
              <a:defRPr sz="2475"/>
            </a:lvl3pPr>
            <a:lvl4pPr>
              <a:defRPr sz="2475"/>
            </a:lvl4pPr>
            <a:lvl5pPr>
              <a:defRPr sz="2475"/>
            </a:lvl5pPr>
            <a:lvl6pPr>
              <a:defRPr sz="2475"/>
            </a:lvl6pPr>
            <a:lvl7pPr>
              <a:defRPr sz="2475"/>
            </a:lvl7pPr>
            <a:lvl8pPr>
              <a:defRPr sz="2475"/>
            </a:lvl8pPr>
            <a:lvl9pPr>
              <a:defRPr sz="2475"/>
            </a:lvl9pPr>
          </a:lstStyle>
          <a:p xmlns:a="http://schemas.openxmlformats.org/drawingml/2006/main">
            <a:pPr>
              <a:defRPr sz="2475"/>
            </a:pPr>
            <a:r>
              <a:rPr sz="2475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β: 1 → почти 0</a:t>
            </a:r>
            <a:br>
              <a:rPr sz="2475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475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ν ≈ 0,01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CD0D6-C12B-4168-A965-9C7586F6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/>
            </a:defPPr>
            <a:lvl1pPr>
              <a:defRPr sz="2100"/>
            </a:lvl1pPr>
            <a:lvl2pPr>
              <a:defRPr sz="2100"/>
            </a:lvl2pPr>
            <a:lvl3pPr>
              <a:defRPr sz="21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 xmlns:a="http://schemas.openxmlformats.org/drawingml/2006/main">
            <a:pPr>
              <a:defRPr sz="2100"/>
            </a:pPr>
            <a:r>
              <a:rPr sz="2100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Ошибка после подбора</a:t>
            </a:r>
            <a:br>
              <a:rPr sz="2100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100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≈ 1.14% при всех 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7023E-E2D0-4AF2-A37B-92D4AFE1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3714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/>
            </a:defPPr>
            <a:lvl1pPr>
              <a:defRPr sz="2100"/>
            </a:lvl1pPr>
            <a:lvl2pPr>
              <a:defRPr sz="2100"/>
            </a:lvl2pPr>
            <a:lvl3pPr>
              <a:defRPr sz="21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 xmlns:a="http://schemas.openxmlformats.org/drawingml/2006/main">
            <a:pPr>
              <a:defRPr sz="2100"/>
            </a:pPr>
            <a:r>
              <a:rPr sz="2100" b="0">
                <a:solidFill>
                  <a:srgbClr val="A94330"/>
                </a:solidFill>
                <a:latin typeface="Helvetica Neue"/>
                <a:ea typeface="Helvetica Neue"/>
                <a:cs typeface="Helvetica Neue"/>
              </a:rPr>
              <a:t>Сдвиг параметров</a:t>
            </a:r>
            <a:br>
              <a:rPr sz="2100" b="0">
                <a:solidFill>
                  <a:srgbClr val="A94330"/>
                </a:solidFill>
                <a:latin typeface="Helvetica Neue"/>
                <a:ea typeface="Helvetica Neue"/>
                <a:cs typeface="Helvetica Neue"/>
              </a:rPr>
            </a:br>
            <a:r>
              <a:rPr sz="2100" b="0">
                <a:solidFill>
                  <a:srgbClr val="A94330"/>
                </a:solidFill>
                <a:latin typeface="Helvetica Neue"/>
                <a:ea typeface="Helvetica Neue"/>
                <a:cs typeface="Helvetica Neue"/>
              </a:rPr>
              <a:t>выдаёт компенсацию</a:t>
            </a:r>
          </a:p>
        </p:txBody>
      </p:sp>
    </p:spTree>
    <p:extLst>
      <p:ext uri="{BB962C8B-B14F-4D97-AF65-F5344CB8AC3E}">
        <p14:creationId xmlns:p14="http://schemas.microsoft.com/office/powerpoint/2010/main" val="20007715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7401C-F8AA-4D03-AE72-937F8C78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/>
            </a:defPPr>
            <a:lvl1pPr>
              <a:defRPr sz="3300"/>
            </a:lvl1pPr>
            <a:lvl2pPr>
              <a:defRPr sz="3300"/>
            </a:lvl2pPr>
            <a:lvl3pPr>
              <a:defRPr sz="33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 xmlns:a="http://schemas.openxmlformats.org/drawingml/2006/main">
            <a:pPr>
              <a:defRPr sz="3300"/>
            </a:pPr>
            <a:r>
              <a:rPr sz="330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Внешние данные: давление нужно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CFCFA290-F571-4557-8246-AB9D5418A995}"/>
              </a:ext>
            </a:extLst>
          </p:cNvPr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7627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217d979b644de7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54E10-213B-4329-88F0-801F5AAD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7875"/>
            <a:ext cx="3714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75"/>
            </a:defPPr>
            <a:lvl1pPr>
              <a:defRPr sz="2775"/>
            </a:lvl1pPr>
            <a:lvl2pPr>
              <a:defRPr sz="2775"/>
            </a:lvl2pPr>
            <a:lvl3pPr>
              <a:defRPr sz="2775"/>
            </a:lvl3pPr>
            <a:lvl4pPr>
              <a:defRPr sz="2775"/>
            </a:lvl4pPr>
            <a:lvl5pPr>
              <a:defRPr sz="2775"/>
            </a:lvl5pPr>
            <a:lvl6pPr>
              <a:defRPr sz="2775"/>
            </a:lvl6pPr>
            <a:lvl7pPr>
              <a:defRPr sz="2775"/>
            </a:lvl7pPr>
            <a:lvl8pPr>
              <a:defRPr sz="2775"/>
            </a:lvl8pPr>
            <a:lvl9pPr>
              <a:defRPr sz="2775"/>
            </a:lvl9pPr>
          </a:lstStyle>
          <a:p xmlns:a="http://schemas.openxmlformats.org/drawingml/2006/main">
            <a:pPr>
              <a:defRPr sz="2775"/>
            </a:pPr>
            <a:r>
              <a:rPr sz="2775" b="1">
                <a:solidFill>
                  <a:srgbClr val="A94330"/>
                </a:solidFill>
                <a:latin typeface="Helvetica Neue"/>
                <a:ea typeface="Helvetica Neue"/>
                <a:cs typeface="Helvetica Neue"/>
              </a:rPr>
              <a:t>0.27% → 45.25%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816BBC-343E-43CF-8F5C-0B791E8C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4800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/>
            </a:defPPr>
            <a:lvl1pPr>
              <a:defRPr sz="2100"/>
            </a:lvl1pPr>
            <a:lvl2pPr>
              <a:defRPr sz="2100"/>
            </a:lvl2pPr>
            <a:lvl3pPr>
              <a:defRPr sz="21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 xmlns:a="http://schemas.openxmlformats.org/drawingml/2006/main">
            <a:pPr>
              <a:defRPr sz="2100"/>
            </a:pPr>
            <a:r>
              <a:rPr sz="2100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После переоценки</a:t>
            </a:r>
            <a:br>
              <a:rPr sz="2100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100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обоих коэффициентов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C0E0E-8F9F-4B08-8831-8B8E0411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/>
            </a:defPPr>
            <a:lvl1pPr>
              <a:defRPr sz="2250"/>
            </a:lvl1pPr>
            <a:lvl2pPr>
              <a:defRPr sz="2250"/>
            </a:lvl2pPr>
            <a:lvl3pPr>
              <a:defRPr sz="225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 xmlns:a="http://schemas.openxmlformats.org/drawingml/2006/main">
            <a:pPr>
              <a:defRPr sz="2250"/>
            </a:pPr>
            <a:r>
              <a:rPr sz="225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KL(P₀ ∥ P₁) ≈ 250 нат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67AC4-E941-4D65-BE9F-ACE9937B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/>
            </a:defPPr>
            <a:lvl1pPr>
              <a:defRPr sz="1650"/>
            </a:lvl1pPr>
            <a:lvl2pPr>
              <a:defRPr sz="1650"/>
            </a:lvl2pPr>
            <a:lvl3pPr>
              <a:defRPr sz="1650"/>
            </a:lvl3pPr>
            <a:lvl4pPr>
              <a:defRPr sz="1650"/>
            </a:lvl4pPr>
            <a:lvl5pPr>
              <a:defRPr sz="1650"/>
            </a:lvl5pPr>
            <a:lvl6pPr>
              <a:defRPr sz="1650"/>
            </a:lvl6pPr>
            <a:lvl7pPr>
              <a:defRPr sz="1650"/>
            </a:lvl7pPr>
            <a:lvl8pPr>
              <a:defRPr sz="1650"/>
            </a:lvl8pPr>
            <a:lvl9pPr>
              <a:defRPr sz="1650"/>
            </a:lvl9pPr>
          </a:lstStyle>
          <a:p xmlns:a="http://schemas.openxmlformats.org/drawingml/2006/main">
            <a:pPr>
              <a:defRPr sz="1650"/>
            </a:pPr>
            <a:r>
              <a:rPr sz="1650" b="0">
                <a:solidFill>
                  <a:srgbClr val="607080"/>
                </a:solidFill>
                <a:latin typeface="Helvetica Neue"/>
                <a:ea typeface="Helvetica Neue"/>
                <a:cs typeface="Helvetica Neue"/>
              </a:rPr>
              <a:t>Опубликованный численный расчёт, не физические измерения</a:t>
            </a:r>
          </a:p>
        </p:txBody>
      </p:sp>
    </p:spTree>
    <p:extLst>
      <p:ext uri="{BB962C8B-B14F-4D97-AF65-F5344CB8AC3E}">
        <p14:creationId xmlns:p14="http://schemas.microsoft.com/office/powerpoint/2010/main" val="44462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E80B4E-58E0-47A1-9167-0C5D11F5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/>
            </a:defPPr>
            <a:lvl1pPr>
              <a:defRPr sz="3300"/>
            </a:lvl1pPr>
            <a:lvl2pPr>
              <a:defRPr sz="3300"/>
            </a:lvl2pPr>
            <a:lvl3pPr>
              <a:defRPr sz="33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 xmlns:a="http://schemas.openxmlformats.org/drawingml/2006/main">
            <a:pPr>
              <a:defRPr sz="3300"/>
            </a:pPr>
            <a:r>
              <a:rPr sz="330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Вывод и вопросы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5753EC-68D4-4399-B20A-EAD4FBD8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75"/>
            </a:defPPr>
            <a:lvl1pPr>
              <a:defRPr sz="2775"/>
            </a:lvl1pPr>
            <a:lvl2pPr>
              <a:defRPr sz="2775"/>
            </a:lvl2pPr>
            <a:lvl3pPr>
              <a:defRPr sz="2775"/>
            </a:lvl3pPr>
            <a:lvl4pPr>
              <a:defRPr sz="2775"/>
            </a:lvl4pPr>
            <a:lvl5pPr>
              <a:defRPr sz="2775"/>
            </a:lvl5pPr>
            <a:lvl6pPr>
              <a:defRPr sz="2775"/>
            </a:lvl6pPr>
            <a:lvl7pPr>
              <a:defRPr sz="2775"/>
            </a:lvl7pPr>
            <a:lvl8pPr>
              <a:defRPr sz="2775"/>
            </a:lvl8pPr>
            <a:lvl9pPr>
              <a:defRPr sz="2775"/>
            </a:lvl9pPr>
          </a:lstStyle>
          <a:p xmlns:a="http://schemas.openxmlformats.org/drawingml/2006/main">
            <a:pPr>
              <a:defRPr sz="2775"/>
            </a:pPr>
            <a:r>
              <a:rPr sz="2775" b="1">
                <a:solidFill>
                  <a:srgbClr val="2962A3"/>
                </a:solidFill>
                <a:latin typeface="Helvetica Neue"/>
                <a:ea typeface="Helvetica Neue"/>
                <a:cs typeface="Helvetica Neue"/>
              </a:rPr>
              <a:t>Сохраняем давление и обе ветви ∇p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8DC1B4-B3FF-40D2-952D-109F09B9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/>
            </a:defPPr>
            <a:lvl1pPr>
              <a:defRPr sz="2100"/>
            </a:lvl1pPr>
            <a:lvl2pPr>
              <a:defRPr sz="2100"/>
            </a:lvl2pPr>
            <a:lvl3pPr>
              <a:defRPr sz="21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 xmlns:a="http://schemas.openxmlformats.org/drawingml/2006/main">
            <a:pPr>
              <a:defRPr sz="2100"/>
            </a:pPr>
            <a:r>
              <a:rPr sz="2100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Контроль p + const: параметры не меняются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1EE6C7-E970-4E40-8601-5A1A044D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/>
            </a:defPPr>
            <a:lvl1pPr>
              <a:defRPr sz="2250"/>
            </a:lvl1pPr>
            <a:lvl2pPr>
              <a:defRPr sz="2250"/>
            </a:lvl2pPr>
            <a:lvl3pPr>
              <a:defRPr sz="225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 xmlns:a="http://schemas.openxmlformats.org/drawingml/2006/main">
            <a:pPr>
              <a:defRPr sz="2250"/>
            </a:pPr>
            <a:r>
              <a:rPr sz="2250" b="1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Для обсуждения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2132F8-587E-4ED9-85F6-18E94F85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/>
            </a:defPPr>
            <a:lvl1pPr>
              <a:defRPr sz="2025"/>
            </a:lvl1pPr>
            <a:lvl2pPr>
              <a:defRPr sz="2025"/>
            </a:lvl2pPr>
            <a:lvl3pPr>
              <a:defRPr sz="2025"/>
            </a:lvl3pPr>
            <a:lvl4pPr>
              <a:defRPr sz="2025"/>
            </a:lvl4pPr>
            <a:lvl5pPr>
              <a:defRPr sz="2025"/>
            </a:lvl5pPr>
            <a:lvl6pPr>
              <a:defRPr sz="2025"/>
            </a:lvl6pPr>
            <a:lvl7pPr>
              <a:defRPr sz="2025"/>
            </a:lvl7pPr>
            <a:lvl8pPr>
              <a:defRPr sz="2025"/>
            </a:lvl8pPr>
            <a:lvl9pPr>
              <a:defRPr sz="2025"/>
            </a:lvl9pPr>
          </a:lstStyle>
          <a:p xmlns:a="http://schemas.openxmlformats.org/drawingml/2006/main">
            <a:pPr>
              <a:defRPr sz="2025"/>
            </a:pPr>
            <a:r>
              <a:rPr sz="202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Подходит ли внешняя численная выборка как «реальные данные»?</a:t>
            </a:r>
            <a:br>
              <a:rPr sz="202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02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Достаточно ли метрики Σ⁻¹ и геометрии ковариаций?</a:t>
            </a:r>
            <a:br>
              <a:rPr sz="202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</a:br>
            <a:r>
              <a:rPr sz="2025" b="0">
                <a:solidFill>
                  <a:srgbClr val="253341"/>
                </a:solidFill>
                <a:latin typeface="Helvetica Neue"/>
                <a:ea typeface="Helvetica Neue"/>
                <a:cs typeface="Helvetica Neue"/>
              </a:rPr>
              <a:t>Допустимо ли зануление p на фиксированных наблюдениях?</a:t>
            </a:r>
          </a:p>
        </p:txBody>
      </p:sp>
    </p:spTree>
    <p:extLst>
      <p:ext uri="{BB962C8B-B14F-4D97-AF65-F5344CB8AC3E}">
        <p14:creationId xmlns:p14="http://schemas.microsoft.com/office/powerpoint/2010/main" val="13551120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2026-10-21T19:50:22.8970000Z</dcterms:created>
  <dcterms:modified xsi:type="dcterms:W3CDTF">2026-10-21T19:50:22.8970000Z</dcterms:modified>
</coreProperties>
</file>